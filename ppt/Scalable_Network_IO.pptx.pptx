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League Gothic" panose="020B0604020202020204" charset="0"/>
      <p:regular r:id="rId10"/>
    </p:embeddedFont>
    <p:embeddedFont>
      <p:font typeface="Poppins" panose="00000500000000000000" pitchFamily="2" charset="0"/>
      <p:regular r:id="rId11"/>
    </p:embeddedFont>
    <p:embeddedFont>
      <p:font typeface="Poppins Bold" panose="020B0604020202020204" charset="0"/>
      <p:regular r:id="rId12"/>
    </p:embeddedFont>
    <p:embeddedFont>
      <p:font typeface="Poppins Bold Italics" panose="020B0604020202020204" charset="0"/>
      <p:regular r:id="rId13"/>
    </p:embeddedFont>
    <p:embeddedFont>
      <p:font typeface="Poppins Italic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built and benchmarked four completely different ways to handle thousands of simultaneous TCP connections — using only a single CPU thread. Today we'll show you why the 50-year-old design of select is still fast in some cases, and why io_uring — the newest Linux I/O primitive — can actually be slower if you use it wrong.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440" y="1104900"/>
            <a:ext cx="12344400" cy="548640"/>
            <a:chOff x="0" y="0"/>
            <a:chExt cx="16459200" cy="7315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59200" cy="731520"/>
            </a:xfrm>
            <a:custGeom>
              <a:avLst/>
              <a:gdLst/>
              <a:ahLst/>
              <a:cxnLst/>
              <a:rect l="l" t="t" r="r" b="b"/>
              <a:pathLst>
                <a:path w="16459200" h="73152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64592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CS331: COMPUTER NETWORKS  |  TEAM T008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" y="2161557"/>
            <a:ext cx="18288000" cy="3087354"/>
            <a:chOff x="0" y="0"/>
            <a:chExt cx="4974443" cy="7478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74443" cy="747853"/>
            </a:xfrm>
            <a:custGeom>
              <a:avLst/>
              <a:gdLst/>
              <a:ahLst/>
              <a:cxnLst/>
              <a:rect l="l" t="t" r="r" b="b"/>
              <a:pathLst>
                <a:path w="4974443" h="747853">
                  <a:moveTo>
                    <a:pt x="0" y="0"/>
                  </a:moveTo>
                  <a:lnTo>
                    <a:pt x="4974443" y="0"/>
                  </a:lnTo>
                  <a:lnTo>
                    <a:pt x="4974443" y="747853"/>
                  </a:lnTo>
                  <a:lnTo>
                    <a:pt x="0" y="747853"/>
                  </a:ln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4974443" cy="7573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5860" y="1701165"/>
            <a:ext cx="14462781" cy="3614421"/>
            <a:chOff x="0" y="0"/>
            <a:chExt cx="19202400" cy="47989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02400" cy="4798907"/>
            </a:xfrm>
            <a:custGeom>
              <a:avLst/>
              <a:gdLst/>
              <a:ahLst/>
              <a:cxnLst/>
              <a:rect l="l" t="t" r="r" b="b"/>
              <a:pathLst>
                <a:path w="19202400" h="4798907">
                  <a:moveTo>
                    <a:pt x="0" y="0"/>
                  </a:moveTo>
                  <a:lnTo>
                    <a:pt x="19202400" y="0"/>
                  </a:lnTo>
                  <a:lnTo>
                    <a:pt x="19202400" y="4798907"/>
                  </a:lnTo>
                  <a:lnTo>
                    <a:pt x="0" y="47989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197" b="-27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9202400" cy="47989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23280"/>
                </a:lnSpc>
                <a:spcBef>
                  <a:spcPct val="0"/>
                </a:spcBef>
              </a:pPr>
              <a:r>
                <a:rPr lang="en-US" sz="19400" u="none" strike="noStrike" spc="-582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Scalable Network I/O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5860" y="5960661"/>
            <a:ext cx="12618720" cy="685800"/>
            <a:chOff x="0" y="0"/>
            <a:chExt cx="1682496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824961" cy="914400"/>
            </a:xfrm>
            <a:custGeom>
              <a:avLst/>
              <a:gdLst/>
              <a:ahLst/>
              <a:cxnLst/>
              <a:rect l="l" t="t" r="r" b="b"/>
              <a:pathLst>
                <a:path w="16824961" h="914400">
                  <a:moveTo>
                    <a:pt x="0" y="0"/>
                  </a:moveTo>
                  <a:lnTo>
                    <a:pt x="16824961" y="0"/>
                  </a:lnTo>
                  <a:lnTo>
                    <a:pt x="1682496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524" b="-3085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682496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Single-threaded TCP echo servers: a deep dive into Linux socket mechanisms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4915" y="7515258"/>
            <a:ext cx="2253307" cy="603604"/>
            <a:chOff x="0" y="0"/>
            <a:chExt cx="458903" cy="1229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58903" cy="122928"/>
            </a:xfrm>
            <a:custGeom>
              <a:avLst/>
              <a:gdLst/>
              <a:ahLst/>
              <a:cxnLst/>
              <a:rect l="l" t="t" r="r" b="b"/>
              <a:pathLst>
                <a:path w="458903" h="122928">
                  <a:moveTo>
                    <a:pt x="61464" y="0"/>
                  </a:moveTo>
                  <a:lnTo>
                    <a:pt x="397438" y="0"/>
                  </a:lnTo>
                  <a:cubicBezTo>
                    <a:pt x="413740" y="0"/>
                    <a:pt x="429373" y="6476"/>
                    <a:pt x="440900" y="18002"/>
                  </a:cubicBezTo>
                  <a:cubicBezTo>
                    <a:pt x="452427" y="29529"/>
                    <a:pt x="458903" y="45163"/>
                    <a:pt x="458903" y="61464"/>
                  </a:cubicBezTo>
                  <a:lnTo>
                    <a:pt x="458903" y="61464"/>
                  </a:lnTo>
                  <a:cubicBezTo>
                    <a:pt x="458903" y="95410"/>
                    <a:pt x="431384" y="122928"/>
                    <a:pt x="397438" y="122928"/>
                  </a:cubicBezTo>
                  <a:lnTo>
                    <a:pt x="61464" y="122928"/>
                  </a:lnTo>
                  <a:cubicBezTo>
                    <a:pt x="27518" y="122928"/>
                    <a:pt x="0" y="95410"/>
                    <a:pt x="0" y="61464"/>
                  </a:cubicBezTo>
                  <a:lnTo>
                    <a:pt x="0" y="61464"/>
                  </a:lnTo>
                  <a:cubicBezTo>
                    <a:pt x="0" y="27518"/>
                    <a:pt x="27518" y="0"/>
                    <a:pt x="61464" y="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58903" cy="132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select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44847" y="7532478"/>
            <a:ext cx="2253307" cy="603604"/>
            <a:chOff x="0" y="0"/>
            <a:chExt cx="458903" cy="1229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8903" cy="122928"/>
            </a:xfrm>
            <a:custGeom>
              <a:avLst/>
              <a:gdLst/>
              <a:ahLst/>
              <a:cxnLst/>
              <a:rect l="l" t="t" r="r" b="b"/>
              <a:pathLst>
                <a:path w="458903" h="122928">
                  <a:moveTo>
                    <a:pt x="61464" y="0"/>
                  </a:moveTo>
                  <a:lnTo>
                    <a:pt x="397438" y="0"/>
                  </a:lnTo>
                  <a:cubicBezTo>
                    <a:pt x="413740" y="0"/>
                    <a:pt x="429373" y="6476"/>
                    <a:pt x="440900" y="18002"/>
                  </a:cubicBezTo>
                  <a:cubicBezTo>
                    <a:pt x="452427" y="29529"/>
                    <a:pt x="458903" y="45163"/>
                    <a:pt x="458903" y="61464"/>
                  </a:cubicBezTo>
                  <a:lnTo>
                    <a:pt x="458903" y="61464"/>
                  </a:lnTo>
                  <a:cubicBezTo>
                    <a:pt x="458903" y="95410"/>
                    <a:pt x="431384" y="122928"/>
                    <a:pt x="397438" y="122928"/>
                  </a:cubicBezTo>
                  <a:lnTo>
                    <a:pt x="61464" y="122928"/>
                  </a:lnTo>
                  <a:cubicBezTo>
                    <a:pt x="27518" y="122928"/>
                    <a:pt x="0" y="95410"/>
                    <a:pt x="0" y="61464"/>
                  </a:cubicBezTo>
                  <a:lnTo>
                    <a:pt x="0" y="61464"/>
                  </a:lnTo>
                  <a:cubicBezTo>
                    <a:pt x="0" y="27518"/>
                    <a:pt x="27518" y="0"/>
                    <a:pt x="61464" y="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458903" cy="132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poll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64780" y="7532478"/>
            <a:ext cx="2253307" cy="603604"/>
            <a:chOff x="0" y="0"/>
            <a:chExt cx="458903" cy="1229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8903" cy="122928"/>
            </a:xfrm>
            <a:custGeom>
              <a:avLst/>
              <a:gdLst/>
              <a:ahLst/>
              <a:cxnLst/>
              <a:rect l="l" t="t" r="r" b="b"/>
              <a:pathLst>
                <a:path w="458903" h="122928">
                  <a:moveTo>
                    <a:pt x="61464" y="0"/>
                  </a:moveTo>
                  <a:lnTo>
                    <a:pt x="397438" y="0"/>
                  </a:lnTo>
                  <a:cubicBezTo>
                    <a:pt x="413740" y="0"/>
                    <a:pt x="429373" y="6476"/>
                    <a:pt x="440900" y="18002"/>
                  </a:cubicBezTo>
                  <a:cubicBezTo>
                    <a:pt x="452427" y="29529"/>
                    <a:pt x="458903" y="45163"/>
                    <a:pt x="458903" y="61464"/>
                  </a:cubicBezTo>
                  <a:lnTo>
                    <a:pt x="458903" y="61464"/>
                  </a:lnTo>
                  <a:cubicBezTo>
                    <a:pt x="458903" y="95410"/>
                    <a:pt x="431384" y="122928"/>
                    <a:pt x="397438" y="122928"/>
                  </a:cubicBezTo>
                  <a:lnTo>
                    <a:pt x="61464" y="122928"/>
                  </a:lnTo>
                  <a:cubicBezTo>
                    <a:pt x="27518" y="122928"/>
                    <a:pt x="0" y="95410"/>
                    <a:pt x="0" y="61464"/>
                  </a:cubicBezTo>
                  <a:lnTo>
                    <a:pt x="0" y="61464"/>
                  </a:lnTo>
                  <a:cubicBezTo>
                    <a:pt x="0" y="27518"/>
                    <a:pt x="27518" y="0"/>
                    <a:pt x="61464" y="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458903" cy="132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epoll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90298" y="7532478"/>
            <a:ext cx="2253307" cy="603604"/>
            <a:chOff x="0" y="0"/>
            <a:chExt cx="458903" cy="1229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8903" cy="122928"/>
            </a:xfrm>
            <a:custGeom>
              <a:avLst/>
              <a:gdLst/>
              <a:ahLst/>
              <a:cxnLst/>
              <a:rect l="l" t="t" r="r" b="b"/>
              <a:pathLst>
                <a:path w="458903" h="122928">
                  <a:moveTo>
                    <a:pt x="61464" y="0"/>
                  </a:moveTo>
                  <a:lnTo>
                    <a:pt x="397438" y="0"/>
                  </a:lnTo>
                  <a:cubicBezTo>
                    <a:pt x="413740" y="0"/>
                    <a:pt x="429373" y="6476"/>
                    <a:pt x="440900" y="18002"/>
                  </a:cubicBezTo>
                  <a:cubicBezTo>
                    <a:pt x="452427" y="29529"/>
                    <a:pt x="458903" y="45163"/>
                    <a:pt x="458903" y="61464"/>
                  </a:cubicBezTo>
                  <a:lnTo>
                    <a:pt x="458903" y="61464"/>
                  </a:lnTo>
                  <a:cubicBezTo>
                    <a:pt x="458903" y="95410"/>
                    <a:pt x="431384" y="122928"/>
                    <a:pt x="397438" y="122928"/>
                  </a:cubicBezTo>
                  <a:lnTo>
                    <a:pt x="61464" y="122928"/>
                  </a:lnTo>
                  <a:cubicBezTo>
                    <a:pt x="27518" y="122928"/>
                    <a:pt x="0" y="95410"/>
                    <a:pt x="0" y="61464"/>
                  </a:cubicBezTo>
                  <a:lnTo>
                    <a:pt x="0" y="61464"/>
                  </a:lnTo>
                  <a:cubicBezTo>
                    <a:pt x="0" y="27518"/>
                    <a:pt x="27518" y="0"/>
                    <a:pt x="61464" y="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458903" cy="132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io_uring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3684794" y="7757633"/>
            <a:ext cx="153480" cy="153296"/>
          </a:xfrm>
          <a:custGeom>
            <a:avLst/>
            <a:gdLst/>
            <a:ahLst/>
            <a:cxnLst/>
            <a:rect l="l" t="t" r="r" b="b"/>
            <a:pathLst>
              <a:path w="153480" h="153296">
                <a:moveTo>
                  <a:pt x="0" y="0"/>
                </a:moveTo>
                <a:lnTo>
                  <a:pt x="153480" y="0"/>
                </a:lnTo>
                <a:lnTo>
                  <a:pt x="153480" y="153295"/>
                </a:lnTo>
                <a:lnTo>
                  <a:pt x="0" y="1532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995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6504727" y="7757633"/>
            <a:ext cx="153480" cy="153296"/>
          </a:xfrm>
          <a:custGeom>
            <a:avLst/>
            <a:gdLst/>
            <a:ahLst/>
            <a:cxnLst/>
            <a:rect l="l" t="t" r="r" b="b"/>
            <a:pathLst>
              <a:path w="153480" h="153296">
                <a:moveTo>
                  <a:pt x="0" y="0"/>
                </a:moveTo>
                <a:lnTo>
                  <a:pt x="153480" y="0"/>
                </a:lnTo>
                <a:lnTo>
                  <a:pt x="153480" y="153295"/>
                </a:lnTo>
                <a:lnTo>
                  <a:pt x="0" y="1532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995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9324659" y="7757633"/>
            <a:ext cx="153480" cy="153296"/>
          </a:xfrm>
          <a:custGeom>
            <a:avLst/>
            <a:gdLst/>
            <a:ahLst/>
            <a:cxnLst/>
            <a:rect l="l" t="t" r="r" b="b"/>
            <a:pathLst>
              <a:path w="153480" h="153296">
                <a:moveTo>
                  <a:pt x="0" y="0"/>
                </a:moveTo>
                <a:lnTo>
                  <a:pt x="153480" y="0"/>
                </a:lnTo>
                <a:lnTo>
                  <a:pt x="153480" y="153295"/>
                </a:lnTo>
                <a:lnTo>
                  <a:pt x="0" y="1532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995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165860" y="4572000"/>
            <a:ext cx="11953880" cy="519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  <a:spcBef>
                <a:spcPct val="0"/>
              </a:spcBef>
            </a:pPr>
            <a:r>
              <a:rPr lang="en-US" sz="3234" i="1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From select( ) to io_uring : Benchmarking Five I/O Engines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3274830"/>
            <a:ext cx="8298180" cy="610989"/>
            <a:chOff x="0" y="0"/>
            <a:chExt cx="11064240" cy="8146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64240" cy="814652"/>
            </a:xfrm>
            <a:custGeom>
              <a:avLst/>
              <a:gdLst/>
              <a:ahLst/>
              <a:cxnLst/>
              <a:rect l="l" t="t" r="r" b="b"/>
              <a:pathLst>
                <a:path w="11064240" h="814652">
                  <a:moveTo>
                    <a:pt x="0" y="0"/>
                  </a:moveTo>
                  <a:lnTo>
                    <a:pt x="11064240" y="0"/>
                  </a:lnTo>
                  <a:lnTo>
                    <a:pt x="11064240" y="814652"/>
                  </a:lnTo>
                  <a:lnTo>
                    <a:pt x="0" y="814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963" b="-1983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1064240" cy="8432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9"/>
                </a:lnSpc>
              </a:pPr>
              <a:r>
                <a:rPr lang="en-US" sz="247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PROBLEM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3895344"/>
            <a:ext cx="8298180" cy="1577340"/>
            <a:chOff x="0" y="0"/>
            <a:chExt cx="11064240" cy="2103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64240" cy="2103120"/>
            </a:xfrm>
            <a:custGeom>
              <a:avLst/>
              <a:gdLst/>
              <a:ahLst/>
              <a:cxnLst/>
              <a:rect l="l" t="t" r="r" b="b"/>
              <a:pathLst>
                <a:path w="11064240" h="2103120">
                  <a:moveTo>
                    <a:pt x="0" y="0"/>
                  </a:moveTo>
                  <a:lnTo>
                    <a:pt x="11064240" y="0"/>
                  </a:lnTo>
                  <a:lnTo>
                    <a:pt x="110642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508" b="-525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1064240" cy="2150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20"/>
                </a:lnSpc>
              </a:pPr>
              <a:r>
                <a:rPr lang="en-US" sz="19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Modern servers must juggle thousands of simultaneous TCP connections on a single thread. The I/O multiplexing mechanism chosen decides throughput, latency, memory footprint, and CPU cost.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822960" y="5733288"/>
          <a:ext cx="8267700" cy="3300731"/>
        </p:xfrm>
        <a:graphic>
          <a:graphicData uri="http://schemas.openxmlformats.org/drawingml/2006/table">
            <a:tbl>
              <a:tblPr/>
              <a:tblGrid>
                <a:gridCol w="1579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069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Mechanism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Year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Core Design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729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select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1983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Bitmap of fds, full copy per call; hard 1024-fd kernel limit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602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poll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1997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Array of structs, no fd limit; full array copy per call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602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epoll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2002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Kernel-resident interest list, O(1) event delivery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729"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io_uring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2019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Async ring buffers, batched syscalls via shared mmap</a:t>
                      </a:r>
                      <a:endParaRPr lang="en-US" sz="110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0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9532620" y="3274830"/>
            <a:ext cx="7927848" cy="610989"/>
            <a:chOff x="0" y="0"/>
            <a:chExt cx="10570464" cy="8146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570464" cy="814652"/>
            </a:xfrm>
            <a:custGeom>
              <a:avLst/>
              <a:gdLst/>
              <a:ahLst/>
              <a:cxnLst/>
              <a:rect l="l" t="t" r="r" b="b"/>
              <a:pathLst>
                <a:path w="10570464" h="814652">
                  <a:moveTo>
                    <a:pt x="0" y="0"/>
                  </a:moveTo>
                  <a:lnTo>
                    <a:pt x="10570464" y="0"/>
                  </a:lnTo>
                  <a:lnTo>
                    <a:pt x="10570464" y="814652"/>
                  </a:lnTo>
                  <a:lnTo>
                    <a:pt x="0" y="8146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153" b="-1865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0570464" cy="8432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69"/>
                </a:lnSpc>
              </a:pPr>
              <a:r>
                <a:rPr lang="en-US" sz="247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32620" y="4032504"/>
            <a:ext cx="548640" cy="548640"/>
            <a:chOff x="0" y="0"/>
            <a:chExt cx="73152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32620" y="4032504"/>
            <a:ext cx="548640" cy="548640"/>
            <a:chOff x="0" y="0"/>
            <a:chExt cx="73152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0" y="4005072"/>
            <a:ext cx="7173468" cy="850392"/>
            <a:chOff x="0" y="0"/>
            <a:chExt cx="9564624" cy="11338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64624" cy="1133856"/>
            </a:xfrm>
            <a:custGeom>
              <a:avLst/>
              <a:gdLst/>
              <a:ahLst/>
              <a:cxnLst/>
              <a:rect l="l" t="t" r="r" b="b"/>
              <a:pathLst>
                <a:path w="9564624" h="1133856">
                  <a:moveTo>
                    <a:pt x="0" y="0"/>
                  </a:moveTo>
                  <a:lnTo>
                    <a:pt x="9564624" y="0"/>
                  </a:lnTo>
                  <a:lnTo>
                    <a:pt x="956462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365" b="-1143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9564624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2"/>
                </a:lnSpc>
              </a:pPr>
              <a:r>
                <a:rPr lang="en-US" sz="18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Implement : 4 single-threaded C servers; one per mechanism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32620" y="5040630"/>
            <a:ext cx="548640" cy="548640"/>
            <a:chOff x="0" y="0"/>
            <a:chExt cx="731520" cy="731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32620" y="5040630"/>
            <a:ext cx="548640" cy="548640"/>
            <a:chOff x="0" y="0"/>
            <a:chExt cx="73152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87000" y="4889754"/>
            <a:ext cx="7173468" cy="850392"/>
            <a:chOff x="0" y="0"/>
            <a:chExt cx="9564624" cy="11338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564624" cy="1133856"/>
            </a:xfrm>
            <a:custGeom>
              <a:avLst/>
              <a:gdLst/>
              <a:ahLst/>
              <a:cxnLst/>
              <a:rect l="l" t="t" r="r" b="b"/>
              <a:pathLst>
                <a:path w="9564624" h="1133856">
                  <a:moveTo>
                    <a:pt x="0" y="0"/>
                  </a:moveTo>
                  <a:lnTo>
                    <a:pt x="9564624" y="0"/>
                  </a:lnTo>
                  <a:lnTo>
                    <a:pt x="956462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365" b="-1143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9564624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2"/>
                </a:lnSpc>
              </a:pPr>
              <a:r>
                <a:rPr lang="en-US" sz="18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Benchmark : Concurrent loads from 10 → 10,000 using tcpkali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32620" y="6048756"/>
            <a:ext cx="548640" cy="548640"/>
            <a:chOff x="0" y="0"/>
            <a:chExt cx="73152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32620" y="6048756"/>
            <a:ext cx="548640" cy="548640"/>
            <a:chOff x="0" y="0"/>
            <a:chExt cx="731520" cy="7315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287000" y="5897880"/>
            <a:ext cx="7173468" cy="850392"/>
            <a:chOff x="0" y="0"/>
            <a:chExt cx="9564624" cy="113385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564624" cy="1133856"/>
            </a:xfrm>
            <a:custGeom>
              <a:avLst/>
              <a:gdLst/>
              <a:ahLst/>
              <a:cxnLst/>
              <a:rect l="l" t="t" r="r" b="b"/>
              <a:pathLst>
                <a:path w="9564624" h="1133856">
                  <a:moveTo>
                    <a:pt x="0" y="0"/>
                  </a:moveTo>
                  <a:lnTo>
                    <a:pt x="9564624" y="0"/>
                  </a:lnTo>
                  <a:lnTo>
                    <a:pt x="956462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365" b="-1143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9564624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2"/>
                </a:lnSpc>
              </a:pPr>
              <a:r>
                <a:rPr lang="en-US" sz="18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Measure : Throughput, p99 latency, syscalls, context switches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32620" y="7056882"/>
            <a:ext cx="548640" cy="548640"/>
            <a:chOff x="0" y="0"/>
            <a:chExt cx="731520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32620" y="7056882"/>
            <a:ext cx="548640" cy="548640"/>
            <a:chOff x="0" y="0"/>
            <a:chExt cx="731520" cy="731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287000" y="6877431"/>
            <a:ext cx="7173468" cy="850392"/>
            <a:chOff x="0" y="0"/>
            <a:chExt cx="9564624" cy="113385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564624" cy="1133856"/>
            </a:xfrm>
            <a:custGeom>
              <a:avLst/>
              <a:gdLst/>
              <a:ahLst/>
              <a:cxnLst/>
              <a:rect l="l" t="t" r="r" b="b"/>
              <a:pathLst>
                <a:path w="9564624" h="1133856">
                  <a:moveTo>
                    <a:pt x="0" y="0"/>
                  </a:moveTo>
                  <a:lnTo>
                    <a:pt x="9564624" y="0"/>
                  </a:lnTo>
                  <a:lnTo>
                    <a:pt x="956462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365" b="-1143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9564624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2"/>
                </a:lnSpc>
              </a:pPr>
              <a:r>
                <a:rPr lang="en-US" sz="18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Analyse : Theory vs. reality across all four metrics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32620" y="8065008"/>
            <a:ext cx="548640" cy="548640"/>
            <a:chOff x="0" y="0"/>
            <a:chExt cx="731520" cy="7315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532620" y="8065008"/>
            <a:ext cx="548640" cy="548640"/>
            <a:chOff x="0" y="0"/>
            <a:chExt cx="731520" cy="7315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31520" cy="731520"/>
            </a:xfrm>
            <a:custGeom>
              <a:avLst/>
              <a:gdLst/>
              <a:ahLst/>
              <a:cxnLst/>
              <a:rect l="l" t="t" r="r" b="b"/>
              <a:pathLst>
                <a:path w="731520" h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73152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5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287000" y="7918323"/>
            <a:ext cx="7173468" cy="850392"/>
            <a:chOff x="0" y="0"/>
            <a:chExt cx="9564624" cy="113385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564624" cy="1133856"/>
            </a:xfrm>
            <a:custGeom>
              <a:avLst/>
              <a:gdLst/>
              <a:ahLst/>
              <a:cxnLst/>
              <a:rect l="l" t="t" r="r" b="b"/>
              <a:pathLst>
                <a:path w="9564624" h="1133856">
                  <a:moveTo>
                    <a:pt x="0" y="0"/>
                  </a:moveTo>
                  <a:lnTo>
                    <a:pt x="9564624" y="0"/>
                  </a:lnTo>
                  <a:lnTo>
                    <a:pt x="956462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4365" b="-1143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9564624" cy="11624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2"/>
                </a:lnSpc>
              </a:pPr>
              <a:r>
                <a:rPr lang="en-US" sz="18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Demonstrate : The newest mechanism is not always the fastest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0" y="-54200"/>
            <a:ext cx="18288000" cy="2597914"/>
            <a:chOff x="0" y="0"/>
            <a:chExt cx="4974443" cy="70664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974443" cy="706648"/>
            </a:xfrm>
            <a:custGeom>
              <a:avLst/>
              <a:gdLst/>
              <a:ahLst/>
              <a:cxnLst/>
              <a:rect l="l" t="t" r="r" b="b"/>
              <a:pathLst>
                <a:path w="4974443" h="706648">
                  <a:moveTo>
                    <a:pt x="0" y="0"/>
                  </a:moveTo>
                  <a:lnTo>
                    <a:pt x="4974443" y="0"/>
                  </a:lnTo>
                  <a:lnTo>
                    <a:pt x="4974443" y="706648"/>
                  </a:lnTo>
                  <a:lnTo>
                    <a:pt x="0" y="706648"/>
                  </a:ln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4974443" cy="7161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22960" y="-415397"/>
            <a:ext cx="14462781" cy="3499727"/>
            <a:chOff x="0" y="0"/>
            <a:chExt cx="19831705" cy="479890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9831706" cy="4798907"/>
            </a:xfrm>
            <a:custGeom>
              <a:avLst/>
              <a:gdLst/>
              <a:ahLst/>
              <a:cxnLst/>
              <a:rect l="l" t="t" r="r" b="b"/>
              <a:pathLst>
                <a:path w="19831706" h="4798907">
                  <a:moveTo>
                    <a:pt x="0" y="0"/>
                  </a:moveTo>
                  <a:lnTo>
                    <a:pt x="19831706" y="0"/>
                  </a:lnTo>
                  <a:lnTo>
                    <a:pt x="19831706" y="4798907"/>
                  </a:lnTo>
                  <a:lnTo>
                    <a:pt x="0" y="47989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197" r="3173" b="-27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9525"/>
              <a:ext cx="19831705" cy="4808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13922"/>
                </a:lnSpc>
                <a:spcBef>
                  <a:spcPct val="0"/>
                </a:spcBef>
              </a:pPr>
              <a:r>
                <a:rPr lang="en-US" sz="11602" spc="-348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Project Statement &amp; Objectives</a:t>
              </a:r>
            </a:p>
          </p:txBody>
        </p:sp>
      </p:grp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4200"/>
            <a:ext cx="18288000" cy="2669064"/>
            <a:chOff x="0" y="0"/>
            <a:chExt cx="4974443" cy="7260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74443" cy="726001"/>
            </a:xfrm>
            <a:custGeom>
              <a:avLst/>
              <a:gdLst/>
              <a:ahLst/>
              <a:cxnLst/>
              <a:rect l="l" t="t" r="r" b="b"/>
              <a:pathLst>
                <a:path w="4974443" h="726001">
                  <a:moveTo>
                    <a:pt x="0" y="0"/>
                  </a:moveTo>
                  <a:lnTo>
                    <a:pt x="4974443" y="0"/>
                  </a:lnTo>
                  <a:lnTo>
                    <a:pt x="4974443" y="726001"/>
                  </a:lnTo>
                  <a:lnTo>
                    <a:pt x="0" y="726001"/>
                  </a:ln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974443" cy="735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363419"/>
            <a:ext cx="16637508" cy="1790064"/>
            <a:chOff x="0" y="0"/>
            <a:chExt cx="22183344" cy="23867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83344" cy="2386752"/>
            </a:xfrm>
            <a:custGeom>
              <a:avLst/>
              <a:gdLst/>
              <a:ahLst/>
              <a:cxnLst/>
              <a:rect l="l" t="t" r="r" b="b"/>
              <a:pathLst>
                <a:path w="22183344" h="2386752">
                  <a:moveTo>
                    <a:pt x="0" y="0"/>
                  </a:moveTo>
                  <a:lnTo>
                    <a:pt x="22183344" y="0"/>
                  </a:lnTo>
                  <a:lnTo>
                    <a:pt x="22183344" y="2386752"/>
                  </a:lnTo>
                  <a:lnTo>
                    <a:pt x="0" y="2386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347" b="-10485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2183344" cy="2386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999"/>
                </a:lnSpc>
              </a:pPr>
              <a:r>
                <a:rPr lang="en-US" sz="9999" spc="-299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Design &amp; Architecture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30104" y="1868737"/>
            <a:ext cx="16637508" cy="548640"/>
            <a:chOff x="0" y="0"/>
            <a:chExt cx="22183344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83344" cy="731520"/>
            </a:xfrm>
            <a:custGeom>
              <a:avLst/>
              <a:gdLst/>
              <a:ahLst/>
              <a:cxnLst/>
              <a:rect l="l" t="t" r="r" b="b"/>
              <a:pathLst>
                <a:path w="22183344" h="731520">
                  <a:moveTo>
                    <a:pt x="0" y="0"/>
                  </a:moveTo>
                  <a:lnTo>
                    <a:pt x="22183344" y="0"/>
                  </a:lnTo>
                  <a:lnTo>
                    <a:pt x="221833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0883" b="-54088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2183344" cy="760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Five Engines, One Shared Interface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0104" y="3100639"/>
            <a:ext cx="16637508" cy="681285"/>
            <a:chOff x="0" y="0"/>
            <a:chExt cx="22183344" cy="9083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183344" cy="908380"/>
            </a:xfrm>
            <a:custGeom>
              <a:avLst/>
              <a:gdLst/>
              <a:ahLst/>
              <a:cxnLst/>
              <a:rect l="l" t="t" r="r" b="b"/>
              <a:pathLst>
                <a:path w="22183344" h="908380">
                  <a:moveTo>
                    <a:pt x="0" y="0"/>
                  </a:moveTo>
                  <a:lnTo>
                    <a:pt x="22183344" y="0"/>
                  </a:lnTo>
                  <a:lnTo>
                    <a:pt x="22183344" y="908380"/>
                  </a:lnTo>
                  <a:lnTo>
                    <a:pt x="0" y="9083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561" b="-4181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22183344" cy="917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Shared foundation (network_utils.c) : socket creation, non-blocking mode (fcntl), TCP_NODELAY, SO_REUSEADDR 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Every server : single-threaded, port 8080, echoes bytes back with a 64KB per-client output buffer and flush-until EAGAIN state machine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5816" y="3998461"/>
            <a:ext cx="3944122" cy="5633505"/>
            <a:chOff x="0" y="0"/>
            <a:chExt cx="5258829" cy="75113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58854" cy="7511341"/>
            </a:xfrm>
            <a:custGeom>
              <a:avLst/>
              <a:gdLst/>
              <a:ahLst/>
              <a:cxnLst/>
              <a:rect l="l" t="t" r="r" b="b"/>
              <a:pathLst>
                <a:path w="5258854" h="7511341">
                  <a:moveTo>
                    <a:pt x="0" y="146672"/>
                  </a:moveTo>
                  <a:cubicBezTo>
                    <a:pt x="0" y="65676"/>
                    <a:pt x="92876" y="0"/>
                    <a:pt x="207417" y="0"/>
                  </a:cubicBezTo>
                  <a:lnTo>
                    <a:pt x="5051444" y="0"/>
                  </a:lnTo>
                  <a:cubicBezTo>
                    <a:pt x="5165985" y="0"/>
                    <a:pt x="5258854" y="65676"/>
                    <a:pt x="5258854" y="146672"/>
                  </a:cubicBezTo>
                  <a:lnTo>
                    <a:pt x="5258854" y="7364669"/>
                  </a:lnTo>
                  <a:cubicBezTo>
                    <a:pt x="5258854" y="7445665"/>
                    <a:pt x="5165985" y="7511341"/>
                    <a:pt x="5051444" y="7511341"/>
                  </a:cubicBezTo>
                  <a:lnTo>
                    <a:pt x="207417" y="7511341"/>
                  </a:lnTo>
                  <a:cubicBezTo>
                    <a:pt x="92876" y="7511341"/>
                    <a:pt x="0" y="7445665"/>
                    <a:pt x="0" y="736466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548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443775" y="4272456"/>
            <a:ext cx="688203" cy="486652"/>
            <a:chOff x="0" y="0"/>
            <a:chExt cx="917604" cy="6488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7604" cy="648870"/>
            </a:xfrm>
            <a:custGeom>
              <a:avLst/>
              <a:gdLst/>
              <a:ahLst/>
              <a:cxnLst/>
              <a:rect l="l" t="t" r="r" b="b"/>
              <a:pathLst>
                <a:path w="917604" h="648870">
                  <a:moveTo>
                    <a:pt x="0" y="324435"/>
                  </a:moveTo>
                  <a:cubicBezTo>
                    <a:pt x="0" y="145207"/>
                    <a:pt x="205346" y="0"/>
                    <a:pt x="458802" y="0"/>
                  </a:cubicBezTo>
                  <a:cubicBezTo>
                    <a:pt x="712259" y="0"/>
                    <a:pt x="917604" y="145207"/>
                    <a:pt x="917604" y="324435"/>
                  </a:cubicBezTo>
                  <a:cubicBezTo>
                    <a:pt x="917604" y="503662"/>
                    <a:pt x="712259" y="648870"/>
                    <a:pt x="458802" y="648870"/>
                  </a:cubicBezTo>
                  <a:cubicBezTo>
                    <a:pt x="205346" y="648870"/>
                    <a:pt x="0" y="503662"/>
                    <a:pt x="0" y="324435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443775" y="4272456"/>
            <a:ext cx="688203" cy="486652"/>
            <a:chOff x="0" y="0"/>
            <a:chExt cx="917604" cy="64886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7604" cy="648870"/>
            </a:xfrm>
            <a:custGeom>
              <a:avLst/>
              <a:gdLst/>
              <a:ahLst/>
              <a:cxnLst/>
              <a:rect l="l" t="t" r="r" b="b"/>
              <a:pathLst>
                <a:path w="917604" h="648870">
                  <a:moveTo>
                    <a:pt x="0" y="0"/>
                  </a:moveTo>
                  <a:lnTo>
                    <a:pt x="917604" y="0"/>
                  </a:lnTo>
                  <a:lnTo>
                    <a:pt x="917604" y="648870"/>
                  </a:lnTo>
                  <a:lnTo>
                    <a:pt x="0" y="648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424" r="-42144" b="-127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917604" cy="6679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i="1" spc="-58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24777" y="4832106"/>
            <a:ext cx="3926200" cy="390544"/>
            <a:chOff x="0" y="0"/>
            <a:chExt cx="5234933" cy="5207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34934" cy="520725"/>
            </a:xfrm>
            <a:custGeom>
              <a:avLst/>
              <a:gdLst/>
              <a:ahLst/>
              <a:cxnLst/>
              <a:rect l="l" t="t" r="r" b="b"/>
              <a:pathLst>
                <a:path w="5234934" h="520725">
                  <a:moveTo>
                    <a:pt x="0" y="0"/>
                  </a:moveTo>
                  <a:lnTo>
                    <a:pt x="5234934" y="0"/>
                  </a:lnTo>
                  <a:lnTo>
                    <a:pt x="5234934" y="520725"/>
                  </a:lnTo>
                  <a:lnTo>
                    <a:pt x="0" y="520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505" r="20279" b="-1018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5234933" cy="5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1983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4777" y="5160596"/>
            <a:ext cx="3926200" cy="610991"/>
            <a:chOff x="0" y="0"/>
            <a:chExt cx="5234933" cy="81465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34934" cy="814654"/>
            </a:xfrm>
            <a:custGeom>
              <a:avLst/>
              <a:gdLst/>
              <a:ahLst/>
              <a:cxnLst/>
              <a:rect l="l" t="t" r="r" b="b"/>
              <a:pathLst>
                <a:path w="5234934" h="814654">
                  <a:moveTo>
                    <a:pt x="0" y="0"/>
                  </a:moveTo>
                  <a:lnTo>
                    <a:pt x="5234934" y="0"/>
                  </a:lnTo>
                  <a:lnTo>
                    <a:pt x="5234934" y="814654"/>
                  </a:lnTo>
                  <a:lnTo>
                    <a:pt x="0" y="8146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675" r="20279" b="-469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5234933" cy="843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0"/>
                </a:lnSpc>
              </a:pPr>
              <a:r>
                <a:rPr lang="en-US" sz="2475" i="1" spc="-74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select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04570" y="6058014"/>
            <a:ext cx="3375637" cy="2615755"/>
            <a:chOff x="0" y="0"/>
            <a:chExt cx="4500850" cy="348767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500850" cy="3487674"/>
            </a:xfrm>
            <a:custGeom>
              <a:avLst/>
              <a:gdLst/>
              <a:ahLst/>
              <a:cxnLst/>
              <a:rect l="l" t="t" r="r" b="b"/>
              <a:pathLst>
                <a:path w="4500850" h="3487674">
                  <a:moveTo>
                    <a:pt x="0" y="0"/>
                  </a:moveTo>
                  <a:lnTo>
                    <a:pt x="4500850" y="0"/>
                  </a:lnTo>
                  <a:lnTo>
                    <a:pt x="4500850" y="3487674"/>
                  </a:lnTo>
                  <a:lnTo>
                    <a:pt x="0" y="3487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225" r="-51945" b="-127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4500850" cy="35257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56235" lvl="1" indent="-178118" algn="l">
                <a:lnSpc>
                  <a:spcPts val="2277"/>
                </a:lnSpc>
                <a:buFont typeface="Arial"/>
                <a:buChar char="•"/>
              </a:pP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Custom my_fd_set bitmap, cast to fd_set*; kernel scans and copies back; user scans all bits. Hard kernel limit: 1024 fds.</a:t>
              </a:r>
            </a:p>
            <a:p>
              <a:pPr marL="356235" lvl="1" indent="-178118" algn="l">
                <a:lnSpc>
                  <a:spcPts val="2277"/>
                </a:lnSpc>
                <a:buFont typeface="Arial"/>
                <a:buChar char="•"/>
              </a:pP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Complexity / Trait: O(N) scan, capped at 1024 clients</a:t>
              </a:r>
            </a:p>
            <a:p>
              <a:pPr algn="l">
                <a:lnSpc>
                  <a:spcPts val="2277"/>
                </a:lnSpc>
              </a:pPr>
              <a:endPara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051708" y="3998461"/>
            <a:ext cx="3944122" cy="5633505"/>
            <a:chOff x="0" y="0"/>
            <a:chExt cx="5258829" cy="75113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258854" cy="7511341"/>
            </a:xfrm>
            <a:custGeom>
              <a:avLst/>
              <a:gdLst/>
              <a:ahLst/>
              <a:cxnLst/>
              <a:rect l="l" t="t" r="r" b="b"/>
              <a:pathLst>
                <a:path w="5258854" h="7511341">
                  <a:moveTo>
                    <a:pt x="0" y="146672"/>
                  </a:moveTo>
                  <a:cubicBezTo>
                    <a:pt x="0" y="65676"/>
                    <a:pt x="92876" y="0"/>
                    <a:pt x="207417" y="0"/>
                  </a:cubicBezTo>
                  <a:lnTo>
                    <a:pt x="5051444" y="0"/>
                  </a:lnTo>
                  <a:cubicBezTo>
                    <a:pt x="5165985" y="0"/>
                    <a:pt x="5258854" y="65676"/>
                    <a:pt x="5258854" y="146672"/>
                  </a:cubicBezTo>
                  <a:lnTo>
                    <a:pt x="5258854" y="7364669"/>
                  </a:lnTo>
                  <a:cubicBezTo>
                    <a:pt x="5258854" y="7445665"/>
                    <a:pt x="5165985" y="7511341"/>
                    <a:pt x="5051444" y="7511341"/>
                  </a:cubicBezTo>
                  <a:lnTo>
                    <a:pt x="207417" y="7511341"/>
                  </a:lnTo>
                  <a:cubicBezTo>
                    <a:pt x="92876" y="7511341"/>
                    <a:pt x="0" y="7445665"/>
                    <a:pt x="0" y="736466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548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79667" y="4272456"/>
            <a:ext cx="688203" cy="486652"/>
            <a:chOff x="0" y="0"/>
            <a:chExt cx="917604" cy="64886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7604" cy="648870"/>
            </a:xfrm>
            <a:custGeom>
              <a:avLst/>
              <a:gdLst/>
              <a:ahLst/>
              <a:cxnLst/>
              <a:rect l="l" t="t" r="r" b="b"/>
              <a:pathLst>
                <a:path w="917604" h="648870">
                  <a:moveTo>
                    <a:pt x="0" y="324435"/>
                  </a:moveTo>
                  <a:cubicBezTo>
                    <a:pt x="0" y="145207"/>
                    <a:pt x="205346" y="0"/>
                    <a:pt x="458802" y="0"/>
                  </a:cubicBezTo>
                  <a:cubicBezTo>
                    <a:pt x="712259" y="0"/>
                    <a:pt x="917604" y="145207"/>
                    <a:pt x="917604" y="324435"/>
                  </a:cubicBezTo>
                  <a:cubicBezTo>
                    <a:pt x="917604" y="503662"/>
                    <a:pt x="712259" y="648870"/>
                    <a:pt x="458802" y="648870"/>
                  </a:cubicBezTo>
                  <a:cubicBezTo>
                    <a:pt x="205346" y="648870"/>
                    <a:pt x="0" y="503662"/>
                    <a:pt x="0" y="324435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79667" y="4272456"/>
            <a:ext cx="688203" cy="486652"/>
            <a:chOff x="0" y="0"/>
            <a:chExt cx="917604" cy="64886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7604" cy="648870"/>
            </a:xfrm>
            <a:custGeom>
              <a:avLst/>
              <a:gdLst/>
              <a:ahLst/>
              <a:cxnLst/>
              <a:rect l="l" t="t" r="r" b="b"/>
              <a:pathLst>
                <a:path w="917604" h="648870">
                  <a:moveTo>
                    <a:pt x="0" y="0"/>
                  </a:moveTo>
                  <a:lnTo>
                    <a:pt x="917604" y="0"/>
                  </a:lnTo>
                  <a:lnTo>
                    <a:pt x="917604" y="648870"/>
                  </a:lnTo>
                  <a:lnTo>
                    <a:pt x="0" y="648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424" r="-42144" b="-127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917604" cy="6679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i="1" spc="-58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060668" y="4832106"/>
            <a:ext cx="3926200" cy="390544"/>
            <a:chOff x="0" y="0"/>
            <a:chExt cx="5234933" cy="52072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234934" cy="520725"/>
            </a:xfrm>
            <a:custGeom>
              <a:avLst/>
              <a:gdLst/>
              <a:ahLst/>
              <a:cxnLst/>
              <a:rect l="l" t="t" r="r" b="b"/>
              <a:pathLst>
                <a:path w="5234934" h="520725">
                  <a:moveTo>
                    <a:pt x="0" y="0"/>
                  </a:moveTo>
                  <a:lnTo>
                    <a:pt x="5234934" y="0"/>
                  </a:lnTo>
                  <a:lnTo>
                    <a:pt x="5234934" y="520725"/>
                  </a:lnTo>
                  <a:lnTo>
                    <a:pt x="0" y="520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505" r="20279" b="-1018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5234933" cy="5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1997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060668" y="5160596"/>
            <a:ext cx="3926200" cy="610991"/>
            <a:chOff x="0" y="0"/>
            <a:chExt cx="5234933" cy="81465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234934" cy="814654"/>
            </a:xfrm>
            <a:custGeom>
              <a:avLst/>
              <a:gdLst/>
              <a:ahLst/>
              <a:cxnLst/>
              <a:rect l="l" t="t" r="r" b="b"/>
              <a:pathLst>
                <a:path w="5234934" h="814654">
                  <a:moveTo>
                    <a:pt x="0" y="0"/>
                  </a:moveTo>
                  <a:lnTo>
                    <a:pt x="5234934" y="0"/>
                  </a:lnTo>
                  <a:lnTo>
                    <a:pt x="5234934" y="814654"/>
                  </a:lnTo>
                  <a:lnTo>
                    <a:pt x="0" y="8146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675" r="20279" b="-469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5234933" cy="843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0"/>
                </a:lnSpc>
              </a:pPr>
              <a:r>
                <a:rPr lang="en-US" sz="2475" i="1" spc="-74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poll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5950" y="6058014"/>
            <a:ext cx="3375637" cy="2693708"/>
            <a:chOff x="0" y="0"/>
            <a:chExt cx="4500850" cy="359161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500850" cy="3591611"/>
            </a:xfrm>
            <a:custGeom>
              <a:avLst/>
              <a:gdLst/>
              <a:ahLst/>
              <a:cxnLst/>
              <a:rect l="l" t="t" r="r" b="b"/>
              <a:pathLst>
                <a:path w="4500850" h="3591611">
                  <a:moveTo>
                    <a:pt x="0" y="0"/>
                  </a:moveTo>
                  <a:lnTo>
                    <a:pt x="4500850" y="0"/>
                  </a:lnTo>
                  <a:lnTo>
                    <a:pt x="4500850" y="3591611"/>
                  </a:lnTo>
                  <a:lnTo>
                    <a:pt x="0" y="3591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225" r="-51945" b="-94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4500850" cy="36297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56235" lvl="1" indent="-178118" algn="l">
                <a:lnSpc>
                  <a:spcPts val="2277"/>
                </a:lnSpc>
                <a:buFont typeface="Arial"/>
                <a:buChar char="•"/>
              </a:pP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Passes a pollfd array on every call; kernel fills revents; user walks the whole array. No fd-count ceiling — capped at 10,000 for fairness.</a:t>
              </a:r>
            </a:p>
            <a:p>
              <a:pPr marL="356235" lvl="1" indent="-178118" algn="l">
                <a:lnSpc>
                  <a:spcPts val="2277"/>
                </a:lnSpc>
                <a:buFont typeface="Arial"/>
                <a:buChar char="•"/>
              </a:pP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Complexity / Trait: O(N) copy, up to 10,000 clients</a:t>
              </a:r>
            </a:p>
            <a:p>
              <a:pPr algn="l">
                <a:lnSpc>
                  <a:spcPts val="2277"/>
                </a:lnSpc>
              </a:pPr>
              <a:endPara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287599" y="3998461"/>
            <a:ext cx="3944122" cy="5633505"/>
            <a:chOff x="0" y="0"/>
            <a:chExt cx="5258829" cy="75113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258854" cy="7511341"/>
            </a:xfrm>
            <a:custGeom>
              <a:avLst/>
              <a:gdLst/>
              <a:ahLst/>
              <a:cxnLst/>
              <a:rect l="l" t="t" r="r" b="b"/>
              <a:pathLst>
                <a:path w="5258854" h="7511341">
                  <a:moveTo>
                    <a:pt x="0" y="146672"/>
                  </a:moveTo>
                  <a:cubicBezTo>
                    <a:pt x="0" y="65676"/>
                    <a:pt x="92876" y="0"/>
                    <a:pt x="207417" y="0"/>
                  </a:cubicBezTo>
                  <a:lnTo>
                    <a:pt x="5051444" y="0"/>
                  </a:lnTo>
                  <a:cubicBezTo>
                    <a:pt x="5165985" y="0"/>
                    <a:pt x="5258854" y="65676"/>
                    <a:pt x="5258854" y="146672"/>
                  </a:cubicBezTo>
                  <a:lnTo>
                    <a:pt x="5258854" y="7364669"/>
                  </a:lnTo>
                  <a:cubicBezTo>
                    <a:pt x="5258854" y="7445665"/>
                    <a:pt x="5165985" y="7511341"/>
                    <a:pt x="5051444" y="7511341"/>
                  </a:cubicBezTo>
                  <a:lnTo>
                    <a:pt x="207417" y="7511341"/>
                  </a:lnTo>
                  <a:cubicBezTo>
                    <a:pt x="92876" y="7511341"/>
                    <a:pt x="0" y="7445665"/>
                    <a:pt x="0" y="736466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548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915558" y="4272456"/>
            <a:ext cx="688203" cy="486652"/>
            <a:chOff x="0" y="0"/>
            <a:chExt cx="917604" cy="64886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17604" cy="648870"/>
            </a:xfrm>
            <a:custGeom>
              <a:avLst/>
              <a:gdLst/>
              <a:ahLst/>
              <a:cxnLst/>
              <a:rect l="l" t="t" r="r" b="b"/>
              <a:pathLst>
                <a:path w="917604" h="648870">
                  <a:moveTo>
                    <a:pt x="0" y="324435"/>
                  </a:moveTo>
                  <a:cubicBezTo>
                    <a:pt x="0" y="145207"/>
                    <a:pt x="205346" y="0"/>
                    <a:pt x="458802" y="0"/>
                  </a:cubicBezTo>
                  <a:cubicBezTo>
                    <a:pt x="712259" y="0"/>
                    <a:pt x="917604" y="145207"/>
                    <a:pt x="917604" y="324435"/>
                  </a:cubicBezTo>
                  <a:cubicBezTo>
                    <a:pt x="917604" y="503662"/>
                    <a:pt x="712259" y="648870"/>
                    <a:pt x="458802" y="648870"/>
                  </a:cubicBezTo>
                  <a:cubicBezTo>
                    <a:pt x="205346" y="648870"/>
                    <a:pt x="0" y="503662"/>
                    <a:pt x="0" y="324435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915558" y="4272456"/>
            <a:ext cx="688203" cy="486652"/>
            <a:chOff x="0" y="0"/>
            <a:chExt cx="917604" cy="64886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17604" cy="648870"/>
            </a:xfrm>
            <a:custGeom>
              <a:avLst/>
              <a:gdLst/>
              <a:ahLst/>
              <a:cxnLst/>
              <a:rect l="l" t="t" r="r" b="b"/>
              <a:pathLst>
                <a:path w="917604" h="648870">
                  <a:moveTo>
                    <a:pt x="0" y="0"/>
                  </a:moveTo>
                  <a:lnTo>
                    <a:pt x="917604" y="0"/>
                  </a:lnTo>
                  <a:lnTo>
                    <a:pt x="917604" y="648870"/>
                  </a:lnTo>
                  <a:lnTo>
                    <a:pt x="0" y="648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424" r="-42144" b="-127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917604" cy="6679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i="1" spc="-58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3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296560" y="4832106"/>
            <a:ext cx="3926200" cy="390544"/>
            <a:chOff x="0" y="0"/>
            <a:chExt cx="5234933" cy="52072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234934" cy="520725"/>
            </a:xfrm>
            <a:custGeom>
              <a:avLst/>
              <a:gdLst/>
              <a:ahLst/>
              <a:cxnLst/>
              <a:rect l="l" t="t" r="r" b="b"/>
              <a:pathLst>
                <a:path w="5234934" h="520725">
                  <a:moveTo>
                    <a:pt x="0" y="0"/>
                  </a:moveTo>
                  <a:lnTo>
                    <a:pt x="5234934" y="0"/>
                  </a:lnTo>
                  <a:lnTo>
                    <a:pt x="5234934" y="520725"/>
                  </a:lnTo>
                  <a:lnTo>
                    <a:pt x="0" y="520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505" r="20279" b="-1018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5234933" cy="5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2002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296560" y="5160596"/>
            <a:ext cx="3926200" cy="610991"/>
            <a:chOff x="0" y="0"/>
            <a:chExt cx="5234933" cy="81465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234934" cy="814654"/>
            </a:xfrm>
            <a:custGeom>
              <a:avLst/>
              <a:gdLst/>
              <a:ahLst/>
              <a:cxnLst/>
              <a:rect l="l" t="t" r="r" b="b"/>
              <a:pathLst>
                <a:path w="5234934" h="814654">
                  <a:moveTo>
                    <a:pt x="0" y="0"/>
                  </a:moveTo>
                  <a:lnTo>
                    <a:pt x="5234934" y="0"/>
                  </a:lnTo>
                  <a:lnTo>
                    <a:pt x="5234934" y="814654"/>
                  </a:lnTo>
                  <a:lnTo>
                    <a:pt x="0" y="8146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675" r="20279" b="-469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5234933" cy="843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0"/>
                </a:lnSpc>
              </a:pPr>
              <a:r>
                <a:rPr lang="en-US" sz="2475" i="1" spc="-74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epoll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467621" y="6058014"/>
            <a:ext cx="3584077" cy="2979458"/>
            <a:chOff x="0" y="0"/>
            <a:chExt cx="4778769" cy="3972611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778770" cy="3972611"/>
            </a:xfrm>
            <a:custGeom>
              <a:avLst/>
              <a:gdLst/>
              <a:ahLst/>
              <a:cxnLst/>
              <a:rect l="l" t="t" r="r" b="b"/>
              <a:pathLst>
                <a:path w="4778770" h="3972611">
                  <a:moveTo>
                    <a:pt x="0" y="0"/>
                  </a:moveTo>
                  <a:lnTo>
                    <a:pt x="4778770" y="0"/>
                  </a:lnTo>
                  <a:lnTo>
                    <a:pt x="4778770" y="3972611"/>
                  </a:lnTo>
                  <a:lnTo>
                    <a:pt x="0" y="3972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024" r="-43108" b="10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4778769" cy="40107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56235" lvl="1" indent="-178118" algn="l">
                <a:lnSpc>
                  <a:spcPts val="2277"/>
                </a:lnSpc>
                <a:buFont typeface="Arial"/>
                <a:buChar char="•"/>
              </a:pP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Interest list lives in the kernel as a red-black tree; epoll_wait returns only ready fds. State transitions managed via epoll_ctl(MOD) to switch between EPOLLIN / EPOLLIN|EPOLLOUT.</a:t>
              </a:r>
            </a:p>
            <a:p>
              <a:pPr marL="356235" lvl="1" indent="-178118" algn="l">
                <a:lnSpc>
                  <a:spcPts val="2277"/>
                </a:lnSpc>
                <a:buFont typeface="Arial"/>
                <a:buChar char="•"/>
              </a:pP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Complexity / Trait: O(1) event delivery</a:t>
              </a:r>
            </a:p>
            <a:p>
              <a:pPr algn="l">
                <a:lnSpc>
                  <a:spcPts val="2277"/>
                </a:lnSpc>
              </a:pPr>
              <a:endPara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523490" y="3998461"/>
            <a:ext cx="3944122" cy="5633505"/>
            <a:chOff x="0" y="0"/>
            <a:chExt cx="5258829" cy="75113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258854" cy="7511341"/>
            </a:xfrm>
            <a:custGeom>
              <a:avLst/>
              <a:gdLst/>
              <a:ahLst/>
              <a:cxnLst/>
              <a:rect l="l" t="t" r="r" b="b"/>
              <a:pathLst>
                <a:path w="5258854" h="7511341">
                  <a:moveTo>
                    <a:pt x="0" y="146672"/>
                  </a:moveTo>
                  <a:cubicBezTo>
                    <a:pt x="0" y="65676"/>
                    <a:pt x="92876" y="0"/>
                    <a:pt x="207417" y="0"/>
                  </a:cubicBezTo>
                  <a:lnTo>
                    <a:pt x="5051444" y="0"/>
                  </a:lnTo>
                  <a:cubicBezTo>
                    <a:pt x="5165985" y="0"/>
                    <a:pt x="5258854" y="65676"/>
                    <a:pt x="5258854" y="146672"/>
                  </a:cubicBezTo>
                  <a:lnTo>
                    <a:pt x="5258854" y="7364669"/>
                  </a:lnTo>
                  <a:cubicBezTo>
                    <a:pt x="5258854" y="7445665"/>
                    <a:pt x="5165985" y="7511341"/>
                    <a:pt x="5051444" y="7511341"/>
                  </a:cubicBezTo>
                  <a:lnTo>
                    <a:pt x="207417" y="7511341"/>
                  </a:lnTo>
                  <a:cubicBezTo>
                    <a:pt x="92876" y="7511341"/>
                    <a:pt x="0" y="7445665"/>
                    <a:pt x="0" y="736466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548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5151449" y="4272456"/>
            <a:ext cx="688203" cy="486652"/>
            <a:chOff x="0" y="0"/>
            <a:chExt cx="917604" cy="64886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17604" cy="648870"/>
            </a:xfrm>
            <a:custGeom>
              <a:avLst/>
              <a:gdLst/>
              <a:ahLst/>
              <a:cxnLst/>
              <a:rect l="l" t="t" r="r" b="b"/>
              <a:pathLst>
                <a:path w="917604" h="648870">
                  <a:moveTo>
                    <a:pt x="0" y="324435"/>
                  </a:moveTo>
                  <a:cubicBezTo>
                    <a:pt x="0" y="145207"/>
                    <a:pt x="205346" y="0"/>
                    <a:pt x="458802" y="0"/>
                  </a:cubicBezTo>
                  <a:cubicBezTo>
                    <a:pt x="712259" y="0"/>
                    <a:pt x="917604" y="145207"/>
                    <a:pt x="917604" y="324435"/>
                  </a:cubicBezTo>
                  <a:cubicBezTo>
                    <a:pt x="917604" y="503662"/>
                    <a:pt x="712259" y="648870"/>
                    <a:pt x="458802" y="648870"/>
                  </a:cubicBezTo>
                  <a:cubicBezTo>
                    <a:pt x="205346" y="648870"/>
                    <a:pt x="0" y="503662"/>
                    <a:pt x="0" y="324435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5151449" y="4272456"/>
            <a:ext cx="688203" cy="486652"/>
            <a:chOff x="0" y="0"/>
            <a:chExt cx="917604" cy="648869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17604" cy="648870"/>
            </a:xfrm>
            <a:custGeom>
              <a:avLst/>
              <a:gdLst/>
              <a:ahLst/>
              <a:cxnLst/>
              <a:rect l="l" t="t" r="r" b="b"/>
              <a:pathLst>
                <a:path w="917604" h="648870">
                  <a:moveTo>
                    <a:pt x="0" y="0"/>
                  </a:moveTo>
                  <a:lnTo>
                    <a:pt x="917604" y="0"/>
                  </a:lnTo>
                  <a:lnTo>
                    <a:pt x="917604" y="648870"/>
                  </a:lnTo>
                  <a:lnTo>
                    <a:pt x="0" y="648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424" r="-42144" b="-127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917604" cy="6679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i="1" spc="-58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4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3532451" y="4832106"/>
            <a:ext cx="3926200" cy="390544"/>
            <a:chOff x="0" y="0"/>
            <a:chExt cx="5234933" cy="52072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234934" cy="520725"/>
            </a:xfrm>
            <a:custGeom>
              <a:avLst/>
              <a:gdLst/>
              <a:ahLst/>
              <a:cxnLst/>
              <a:rect l="l" t="t" r="r" b="b"/>
              <a:pathLst>
                <a:path w="5234934" h="520725">
                  <a:moveTo>
                    <a:pt x="0" y="0"/>
                  </a:moveTo>
                  <a:lnTo>
                    <a:pt x="5234934" y="0"/>
                  </a:lnTo>
                  <a:lnTo>
                    <a:pt x="5234934" y="520725"/>
                  </a:lnTo>
                  <a:lnTo>
                    <a:pt x="0" y="520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505" r="20279" b="-1018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5234933" cy="5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2019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532451" y="5160596"/>
            <a:ext cx="3926200" cy="610991"/>
            <a:chOff x="0" y="0"/>
            <a:chExt cx="5234933" cy="81465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234934" cy="814654"/>
            </a:xfrm>
            <a:custGeom>
              <a:avLst/>
              <a:gdLst/>
              <a:ahLst/>
              <a:cxnLst/>
              <a:rect l="l" t="t" r="r" b="b"/>
              <a:pathLst>
                <a:path w="5234934" h="814654">
                  <a:moveTo>
                    <a:pt x="0" y="0"/>
                  </a:moveTo>
                  <a:lnTo>
                    <a:pt x="5234934" y="0"/>
                  </a:lnTo>
                  <a:lnTo>
                    <a:pt x="5234934" y="814654"/>
                  </a:lnTo>
                  <a:lnTo>
                    <a:pt x="0" y="8146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675" r="20279" b="-469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28575"/>
              <a:ext cx="5234933" cy="843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70"/>
                </a:lnSpc>
              </a:pPr>
              <a:r>
                <a:rPr lang="en-US" sz="2475" i="1" spc="-74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io_uring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670092" y="6058014"/>
            <a:ext cx="3650918" cy="3550958"/>
            <a:chOff x="0" y="0"/>
            <a:chExt cx="4867891" cy="4734611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867892" cy="4734611"/>
            </a:xfrm>
            <a:custGeom>
              <a:avLst/>
              <a:gdLst/>
              <a:ahLst/>
              <a:cxnLst/>
              <a:rect l="l" t="t" r="r" b="b"/>
              <a:pathLst>
                <a:path w="4867892" h="4734611">
                  <a:moveTo>
                    <a:pt x="0" y="0"/>
                  </a:moveTo>
                  <a:lnTo>
                    <a:pt x="4867892" y="0"/>
                  </a:lnTo>
                  <a:lnTo>
                    <a:pt x="4867892" y="4734611"/>
                  </a:lnTo>
                  <a:lnTo>
                    <a:pt x="0" y="4734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779" r="-40488" b="169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4867891" cy="47727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56235" lvl="1" indent="-178118" algn="l">
                <a:lnSpc>
                  <a:spcPts val="2277"/>
                </a:lnSpc>
                <a:buFont typeface="Arial"/>
                <a:buChar char="•"/>
              </a:pP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Submit ops via an SQ ring; kernel completes async, posts to a CQ ring via shared mmap. SOCK_NONBLOCK set directly in the ACCEPT SQE; no fcntl() round-trip per connection. MAX_CLIENTS (10,000) is actively enforced via an active_clients counter.</a:t>
              </a:r>
            </a:p>
            <a:p>
              <a:pPr marL="356235" lvl="1" indent="-178118" algn="l">
                <a:lnSpc>
                  <a:spcPts val="2277"/>
                </a:lnSpc>
                <a:buFont typeface="Arial"/>
                <a:buChar char="•"/>
              </a:pP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Complexity / Trait: Async rings, batched io_uring_enter calls</a:t>
              </a:r>
            </a:p>
            <a:p>
              <a:pPr algn="l">
                <a:lnSpc>
                  <a:spcPts val="2277"/>
                </a:lnSpc>
              </a:pPr>
              <a:endParaRPr lang="en-US" sz="16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3419" y="2235216"/>
            <a:ext cx="3449427" cy="1983772"/>
            <a:chOff x="0" y="0"/>
            <a:chExt cx="4599235" cy="26450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9235" cy="2645029"/>
            </a:xfrm>
            <a:custGeom>
              <a:avLst/>
              <a:gdLst/>
              <a:ahLst/>
              <a:cxnLst/>
              <a:rect l="l" t="t" r="r" b="b"/>
              <a:pathLst>
                <a:path w="4599235" h="2645029">
                  <a:moveTo>
                    <a:pt x="0" y="180312"/>
                  </a:moveTo>
                  <a:cubicBezTo>
                    <a:pt x="0" y="80767"/>
                    <a:pt x="47659" y="0"/>
                    <a:pt x="106398" y="0"/>
                  </a:cubicBezTo>
                  <a:lnTo>
                    <a:pt x="4492837" y="0"/>
                  </a:lnTo>
                  <a:cubicBezTo>
                    <a:pt x="4551576" y="0"/>
                    <a:pt x="4599235" y="80767"/>
                    <a:pt x="4599235" y="180312"/>
                  </a:cubicBezTo>
                  <a:lnTo>
                    <a:pt x="4599235" y="2464718"/>
                  </a:lnTo>
                  <a:cubicBezTo>
                    <a:pt x="4599235" y="2564262"/>
                    <a:pt x="4551576" y="2645029"/>
                    <a:pt x="4492837" y="2645029"/>
                  </a:cubicBezTo>
                  <a:lnTo>
                    <a:pt x="106398" y="2645029"/>
                  </a:lnTo>
                  <a:cubicBezTo>
                    <a:pt x="47659" y="2645029"/>
                    <a:pt x="0" y="2564262"/>
                    <a:pt x="0" y="2464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0548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6376" y="2489247"/>
            <a:ext cx="299153" cy="466344"/>
            <a:chOff x="0" y="0"/>
            <a:chExt cx="398871" cy="621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8871" cy="621792"/>
            </a:xfrm>
            <a:custGeom>
              <a:avLst/>
              <a:gdLst/>
              <a:ahLst/>
              <a:cxnLst/>
              <a:rect l="l" t="t" r="r" b="b"/>
              <a:pathLst>
                <a:path w="398871" h="621792">
                  <a:moveTo>
                    <a:pt x="0" y="310896"/>
                  </a:moveTo>
                  <a:cubicBezTo>
                    <a:pt x="0" y="139192"/>
                    <a:pt x="89290" y="0"/>
                    <a:pt x="199435" y="0"/>
                  </a:cubicBezTo>
                  <a:cubicBezTo>
                    <a:pt x="309581" y="0"/>
                    <a:pt x="398871" y="139192"/>
                    <a:pt x="398871" y="310896"/>
                  </a:cubicBezTo>
                  <a:cubicBezTo>
                    <a:pt x="398871" y="482600"/>
                    <a:pt x="309581" y="621792"/>
                    <a:pt x="199435" y="621792"/>
                  </a:cubicBezTo>
                  <a:cubicBezTo>
                    <a:pt x="8929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6376" y="2489247"/>
            <a:ext cx="299153" cy="466344"/>
            <a:chOff x="0" y="0"/>
            <a:chExt cx="398871" cy="6217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8871" cy="621792"/>
            </a:xfrm>
            <a:custGeom>
              <a:avLst/>
              <a:gdLst/>
              <a:ahLst/>
              <a:cxnLst/>
              <a:rect l="l" t="t" r="r" b="b"/>
              <a:pathLst>
                <a:path w="398871" h="621792">
                  <a:moveTo>
                    <a:pt x="199435" y="0"/>
                  </a:moveTo>
                  <a:lnTo>
                    <a:pt x="199435" y="0"/>
                  </a:lnTo>
                  <a:cubicBezTo>
                    <a:pt x="309581" y="0"/>
                    <a:pt x="398871" y="89290"/>
                    <a:pt x="398871" y="199435"/>
                  </a:cubicBezTo>
                  <a:lnTo>
                    <a:pt x="398871" y="422357"/>
                  </a:lnTo>
                  <a:cubicBezTo>
                    <a:pt x="398871" y="532502"/>
                    <a:pt x="309581" y="621792"/>
                    <a:pt x="199435" y="621792"/>
                  </a:cubicBezTo>
                  <a:lnTo>
                    <a:pt x="199435" y="621792"/>
                  </a:lnTo>
                  <a:cubicBezTo>
                    <a:pt x="89290" y="621792"/>
                    <a:pt x="0" y="532502"/>
                    <a:pt x="0" y="422357"/>
                  </a:cubicBezTo>
                  <a:lnTo>
                    <a:pt x="0" y="199435"/>
                  </a:lnTo>
                  <a:cubicBezTo>
                    <a:pt x="0" y="89290"/>
                    <a:pt x="89290" y="0"/>
                    <a:pt x="199435" y="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398871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i="1" spc="-40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6376" y="2946447"/>
            <a:ext cx="3214338" cy="1411845"/>
            <a:chOff x="0" y="0"/>
            <a:chExt cx="4285785" cy="18824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85785" cy="1882460"/>
            </a:xfrm>
            <a:custGeom>
              <a:avLst/>
              <a:gdLst/>
              <a:ahLst/>
              <a:cxnLst/>
              <a:rect l="l" t="t" r="r" b="b"/>
              <a:pathLst>
                <a:path w="4285785" h="1882460">
                  <a:moveTo>
                    <a:pt x="0" y="0"/>
                  </a:moveTo>
                  <a:lnTo>
                    <a:pt x="4285785" y="0"/>
                  </a:lnTo>
                  <a:lnTo>
                    <a:pt x="4285785" y="1882460"/>
                  </a:lnTo>
                  <a:lnTo>
                    <a:pt x="0" y="1882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26" r="-49776" b="34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4285785" cy="1901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3"/>
                </a:lnSpc>
              </a:pPr>
              <a:r>
                <a:rPr lang="en-US" sz="124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Custom my_fd_set bitmap sized to MAX_CLIENTS = 1024. Connections with fd ≥ 1024 are rejected cleanly. select is tested only up to 1000 connections where it can operate correctly.</a:t>
              </a:r>
            </a:p>
            <a:p>
              <a:pPr algn="l">
                <a:lnSpc>
                  <a:spcPts val="1643"/>
                </a:lnSpc>
              </a:pPr>
              <a:endParaRPr lang="en-US" sz="12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909652" y="2235216"/>
            <a:ext cx="3449427" cy="1983772"/>
            <a:chOff x="0" y="0"/>
            <a:chExt cx="4599235" cy="26450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99235" cy="2645029"/>
            </a:xfrm>
            <a:custGeom>
              <a:avLst/>
              <a:gdLst/>
              <a:ahLst/>
              <a:cxnLst/>
              <a:rect l="l" t="t" r="r" b="b"/>
              <a:pathLst>
                <a:path w="4599235" h="2645029">
                  <a:moveTo>
                    <a:pt x="0" y="180312"/>
                  </a:moveTo>
                  <a:cubicBezTo>
                    <a:pt x="0" y="80767"/>
                    <a:pt x="47659" y="0"/>
                    <a:pt x="106398" y="0"/>
                  </a:cubicBezTo>
                  <a:lnTo>
                    <a:pt x="4492837" y="0"/>
                  </a:lnTo>
                  <a:cubicBezTo>
                    <a:pt x="4551576" y="0"/>
                    <a:pt x="4599235" y="80767"/>
                    <a:pt x="4599235" y="180312"/>
                  </a:cubicBezTo>
                  <a:lnTo>
                    <a:pt x="4599235" y="2464718"/>
                  </a:lnTo>
                  <a:cubicBezTo>
                    <a:pt x="4599235" y="2564262"/>
                    <a:pt x="4551576" y="2645029"/>
                    <a:pt x="4492837" y="2645029"/>
                  </a:cubicBezTo>
                  <a:lnTo>
                    <a:pt x="106398" y="2645029"/>
                  </a:lnTo>
                  <a:cubicBezTo>
                    <a:pt x="47659" y="2645029"/>
                    <a:pt x="0" y="2564262"/>
                    <a:pt x="0" y="2464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0548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72610" y="2489247"/>
            <a:ext cx="299153" cy="466344"/>
            <a:chOff x="0" y="0"/>
            <a:chExt cx="398871" cy="6217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8871" cy="621792"/>
            </a:xfrm>
            <a:custGeom>
              <a:avLst/>
              <a:gdLst/>
              <a:ahLst/>
              <a:cxnLst/>
              <a:rect l="l" t="t" r="r" b="b"/>
              <a:pathLst>
                <a:path w="398871" h="621792">
                  <a:moveTo>
                    <a:pt x="0" y="310896"/>
                  </a:moveTo>
                  <a:cubicBezTo>
                    <a:pt x="0" y="139192"/>
                    <a:pt x="89290" y="0"/>
                    <a:pt x="199435" y="0"/>
                  </a:cubicBezTo>
                  <a:cubicBezTo>
                    <a:pt x="309581" y="0"/>
                    <a:pt x="398871" y="139192"/>
                    <a:pt x="398871" y="310896"/>
                  </a:cubicBezTo>
                  <a:cubicBezTo>
                    <a:pt x="398871" y="482600"/>
                    <a:pt x="309581" y="621792"/>
                    <a:pt x="199435" y="621792"/>
                  </a:cubicBezTo>
                  <a:cubicBezTo>
                    <a:pt x="8929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72610" y="2489247"/>
            <a:ext cx="299153" cy="466344"/>
            <a:chOff x="0" y="0"/>
            <a:chExt cx="398871" cy="6217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98871" cy="621792"/>
            </a:xfrm>
            <a:custGeom>
              <a:avLst/>
              <a:gdLst/>
              <a:ahLst/>
              <a:cxnLst/>
              <a:rect l="l" t="t" r="r" b="b"/>
              <a:pathLst>
                <a:path w="398871" h="621792">
                  <a:moveTo>
                    <a:pt x="199435" y="0"/>
                  </a:moveTo>
                  <a:lnTo>
                    <a:pt x="199435" y="0"/>
                  </a:lnTo>
                  <a:cubicBezTo>
                    <a:pt x="309581" y="0"/>
                    <a:pt x="398871" y="89290"/>
                    <a:pt x="398871" y="199435"/>
                  </a:cubicBezTo>
                  <a:lnTo>
                    <a:pt x="398871" y="422357"/>
                  </a:lnTo>
                  <a:cubicBezTo>
                    <a:pt x="398871" y="532502"/>
                    <a:pt x="309581" y="621792"/>
                    <a:pt x="199435" y="621792"/>
                  </a:cubicBezTo>
                  <a:lnTo>
                    <a:pt x="199435" y="621792"/>
                  </a:lnTo>
                  <a:cubicBezTo>
                    <a:pt x="89290" y="621792"/>
                    <a:pt x="0" y="532502"/>
                    <a:pt x="0" y="422357"/>
                  </a:cubicBezTo>
                  <a:lnTo>
                    <a:pt x="0" y="199435"/>
                  </a:lnTo>
                  <a:cubicBezTo>
                    <a:pt x="0" y="89290"/>
                    <a:pt x="89290" y="0"/>
                    <a:pt x="199435" y="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398871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i="1" spc="-40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072610" y="2946447"/>
            <a:ext cx="3268872" cy="1411845"/>
            <a:chOff x="0" y="0"/>
            <a:chExt cx="4358495" cy="18824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58496" cy="1882460"/>
            </a:xfrm>
            <a:custGeom>
              <a:avLst/>
              <a:gdLst/>
              <a:ahLst/>
              <a:cxnLst/>
              <a:rect l="l" t="t" r="r" b="b"/>
              <a:pathLst>
                <a:path w="4358496" h="1882460">
                  <a:moveTo>
                    <a:pt x="0" y="0"/>
                  </a:moveTo>
                  <a:lnTo>
                    <a:pt x="4358496" y="0"/>
                  </a:lnTo>
                  <a:lnTo>
                    <a:pt x="4358496" y="1882460"/>
                  </a:lnTo>
                  <a:lnTo>
                    <a:pt x="0" y="1882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26" r="-47277" b="34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358495" cy="1901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11"/>
                </a:lnSpc>
              </a:pPr>
              <a:r>
                <a:rPr lang="en-US" sz="114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accept_flags = SOCK_NONBLOCK in the ACCEPT SQE hands back an already-nonblocking fd directly from the kernel; no fcntl(F_GETFL)/fcntl(F_SETFL) round-trip per connection.</a:t>
              </a:r>
            </a:p>
            <a:p>
              <a:pPr algn="l">
                <a:lnSpc>
                  <a:spcPts val="1511"/>
                </a:lnSpc>
              </a:pPr>
              <a:endParaRPr lang="en-US" sz="11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25886" y="2235216"/>
            <a:ext cx="3449427" cy="1983772"/>
            <a:chOff x="0" y="0"/>
            <a:chExt cx="4599235" cy="26450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599235" cy="2645029"/>
            </a:xfrm>
            <a:custGeom>
              <a:avLst/>
              <a:gdLst/>
              <a:ahLst/>
              <a:cxnLst/>
              <a:rect l="l" t="t" r="r" b="b"/>
              <a:pathLst>
                <a:path w="4599235" h="2645029">
                  <a:moveTo>
                    <a:pt x="0" y="180312"/>
                  </a:moveTo>
                  <a:cubicBezTo>
                    <a:pt x="0" y="80767"/>
                    <a:pt x="47659" y="0"/>
                    <a:pt x="106398" y="0"/>
                  </a:cubicBezTo>
                  <a:lnTo>
                    <a:pt x="4492837" y="0"/>
                  </a:lnTo>
                  <a:cubicBezTo>
                    <a:pt x="4551576" y="0"/>
                    <a:pt x="4599235" y="80767"/>
                    <a:pt x="4599235" y="180312"/>
                  </a:cubicBezTo>
                  <a:lnTo>
                    <a:pt x="4599235" y="2464718"/>
                  </a:lnTo>
                  <a:cubicBezTo>
                    <a:pt x="4599235" y="2564262"/>
                    <a:pt x="4551576" y="2645029"/>
                    <a:pt x="4492837" y="2645029"/>
                  </a:cubicBezTo>
                  <a:lnTo>
                    <a:pt x="106398" y="2645029"/>
                  </a:lnTo>
                  <a:cubicBezTo>
                    <a:pt x="47659" y="2645029"/>
                    <a:pt x="0" y="2564262"/>
                    <a:pt x="0" y="2464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0548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88844" y="2489247"/>
            <a:ext cx="299153" cy="466344"/>
            <a:chOff x="0" y="0"/>
            <a:chExt cx="398871" cy="62179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8871" cy="621792"/>
            </a:xfrm>
            <a:custGeom>
              <a:avLst/>
              <a:gdLst/>
              <a:ahLst/>
              <a:cxnLst/>
              <a:rect l="l" t="t" r="r" b="b"/>
              <a:pathLst>
                <a:path w="398871" h="621792">
                  <a:moveTo>
                    <a:pt x="0" y="310896"/>
                  </a:moveTo>
                  <a:cubicBezTo>
                    <a:pt x="0" y="139192"/>
                    <a:pt x="89290" y="0"/>
                    <a:pt x="199435" y="0"/>
                  </a:cubicBezTo>
                  <a:cubicBezTo>
                    <a:pt x="309581" y="0"/>
                    <a:pt x="398871" y="139192"/>
                    <a:pt x="398871" y="310896"/>
                  </a:cubicBezTo>
                  <a:cubicBezTo>
                    <a:pt x="398871" y="482600"/>
                    <a:pt x="309581" y="621792"/>
                    <a:pt x="199435" y="621792"/>
                  </a:cubicBezTo>
                  <a:cubicBezTo>
                    <a:pt x="8929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88844" y="2489247"/>
            <a:ext cx="299153" cy="466344"/>
            <a:chOff x="0" y="0"/>
            <a:chExt cx="398871" cy="6217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98871" cy="621792"/>
            </a:xfrm>
            <a:custGeom>
              <a:avLst/>
              <a:gdLst/>
              <a:ahLst/>
              <a:cxnLst/>
              <a:rect l="l" t="t" r="r" b="b"/>
              <a:pathLst>
                <a:path w="398871" h="621792">
                  <a:moveTo>
                    <a:pt x="199435" y="0"/>
                  </a:moveTo>
                  <a:lnTo>
                    <a:pt x="199435" y="0"/>
                  </a:lnTo>
                  <a:cubicBezTo>
                    <a:pt x="309581" y="0"/>
                    <a:pt x="398871" y="89290"/>
                    <a:pt x="398871" y="199435"/>
                  </a:cubicBezTo>
                  <a:lnTo>
                    <a:pt x="398871" y="422357"/>
                  </a:lnTo>
                  <a:cubicBezTo>
                    <a:pt x="398871" y="532502"/>
                    <a:pt x="309581" y="621792"/>
                    <a:pt x="199435" y="621792"/>
                  </a:cubicBezTo>
                  <a:lnTo>
                    <a:pt x="199435" y="621792"/>
                  </a:lnTo>
                  <a:cubicBezTo>
                    <a:pt x="89290" y="621792"/>
                    <a:pt x="0" y="532502"/>
                    <a:pt x="0" y="422357"/>
                  </a:cubicBezTo>
                  <a:lnTo>
                    <a:pt x="0" y="199435"/>
                  </a:lnTo>
                  <a:cubicBezTo>
                    <a:pt x="0" y="89290"/>
                    <a:pt x="89290" y="0"/>
                    <a:pt x="199435" y="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398871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i="1" spc="-40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3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88987" y="2946447"/>
            <a:ext cx="3135242" cy="1411845"/>
            <a:chOff x="0" y="0"/>
            <a:chExt cx="4180323" cy="18824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180324" cy="1882460"/>
            </a:xfrm>
            <a:custGeom>
              <a:avLst/>
              <a:gdLst/>
              <a:ahLst/>
              <a:cxnLst/>
              <a:rect l="l" t="t" r="r" b="b"/>
              <a:pathLst>
                <a:path w="4180324" h="1882460">
                  <a:moveTo>
                    <a:pt x="0" y="0"/>
                  </a:moveTo>
                  <a:lnTo>
                    <a:pt x="4180324" y="0"/>
                  </a:lnTo>
                  <a:lnTo>
                    <a:pt x="4180324" y="1882460"/>
                  </a:lnTo>
                  <a:lnTo>
                    <a:pt x="0" y="1882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26" r="-53554" b="34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4180323" cy="1901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3"/>
                </a:lnSpc>
              </a:pPr>
              <a:r>
                <a:rPr lang="en-US" sz="124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Added an active_clients counter (incremented in alloc_client, decremented in free_client). Connections past 10,000 are rejected via submit_close.</a:t>
              </a:r>
            </a:p>
            <a:p>
              <a:pPr algn="l">
                <a:lnSpc>
                  <a:spcPts val="1643"/>
                </a:lnSpc>
              </a:pPr>
              <a:endParaRPr lang="en-US" sz="12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92766" y="4491642"/>
            <a:ext cx="6333120" cy="3799872"/>
            <a:chOff x="0" y="0"/>
            <a:chExt cx="10058400" cy="60350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058400" cy="6035040"/>
            </a:xfrm>
            <a:custGeom>
              <a:avLst/>
              <a:gdLst/>
              <a:ahLst/>
              <a:cxnLst/>
              <a:rect l="l" t="t" r="r" b="b"/>
              <a:pathLst>
                <a:path w="10058400" h="6035040">
                  <a:moveTo>
                    <a:pt x="0" y="0"/>
                  </a:moveTo>
                  <a:lnTo>
                    <a:pt x="10058400" y="0"/>
                  </a:lnTo>
                  <a:lnTo>
                    <a:pt x="10058400" y="6035040"/>
                  </a:lnTo>
                  <a:lnTo>
                    <a:pt x="0" y="603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32" b="-1432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896496" y="4493870"/>
            <a:ext cx="6329408" cy="3797645"/>
            <a:chOff x="0" y="0"/>
            <a:chExt cx="10058400" cy="60350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058400" cy="6035040"/>
            </a:xfrm>
            <a:custGeom>
              <a:avLst/>
              <a:gdLst/>
              <a:ahLst/>
              <a:cxnLst/>
              <a:rect l="l" t="t" r="r" b="b"/>
              <a:pathLst>
                <a:path w="10058400" h="6035040">
                  <a:moveTo>
                    <a:pt x="0" y="0"/>
                  </a:moveTo>
                  <a:lnTo>
                    <a:pt x="10058400" y="0"/>
                  </a:lnTo>
                  <a:lnTo>
                    <a:pt x="10058400" y="6035040"/>
                  </a:lnTo>
                  <a:lnTo>
                    <a:pt x="0" y="603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13" b="-2213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92766" y="8403173"/>
            <a:ext cx="6877495" cy="1414291"/>
            <a:chOff x="0" y="0"/>
            <a:chExt cx="9169994" cy="188572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169994" cy="1885722"/>
            </a:xfrm>
            <a:custGeom>
              <a:avLst/>
              <a:gdLst/>
              <a:ahLst/>
              <a:cxnLst/>
              <a:rect l="l" t="t" r="r" b="b"/>
              <a:pathLst>
                <a:path w="9169994" h="1885722">
                  <a:moveTo>
                    <a:pt x="0" y="0"/>
                  </a:moveTo>
                  <a:lnTo>
                    <a:pt x="9169994" y="0"/>
                  </a:lnTo>
                  <a:lnTo>
                    <a:pt x="9169994" y="1885722"/>
                  </a:lnTo>
                  <a:lnTo>
                    <a:pt x="0" y="1885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262" r="-9688" b="-306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9169994" cy="19142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0042" lvl="1" indent="-170021" algn="l">
                <a:lnSpc>
                  <a:spcPts val="2079"/>
                </a:lnSpc>
                <a:buFont typeface="Arial"/>
                <a:buChar char="•"/>
              </a:pPr>
              <a:r>
                <a:rPr lang="en-US" sz="15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select: ~4025 Mbps (fails at 1500+ conns)</a:t>
              </a:r>
            </a:p>
            <a:p>
              <a:pPr marL="340042" lvl="1" indent="-170021" algn="l">
                <a:lnSpc>
                  <a:spcPts val="2079"/>
                </a:lnSpc>
                <a:buFont typeface="Arial"/>
                <a:buChar char="•"/>
              </a:pPr>
              <a:r>
                <a:rPr lang="en-US" sz="15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poll: ~4050 Mbps, degrades to ~2364 Mbps at 5000 conns</a:t>
              </a:r>
            </a:p>
            <a:p>
              <a:pPr marL="340042" lvl="1" indent="-170021" algn="l">
                <a:lnSpc>
                  <a:spcPts val="2079"/>
                </a:lnSpc>
                <a:buFont typeface="Arial"/>
                <a:buChar char="•"/>
              </a:pPr>
              <a:r>
                <a:rPr lang="en-US" sz="15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epoll: ~3469 Mbps at 1000, ~2747 Mbps at 5000 conns</a:t>
              </a:r>
            </a:p>
            <a:p>
              <a:pPr marL="340042" lvl="1" indent="-170021" algn="l">
                <a:lnSpc>
                  <a:spcPts val="2079"/>
                </a:lnSpc>
                <a:buFont typeface="Arial"/>
                <a:buChar char="•"/>
              </a:pPr>
              <a:r>
                <a:rPr lang="en-US" sz="15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io_uring: ~3109 Mbps at 1000, holds ~2756 Mbps at 5000 conns</a:t>
              </a:r>
            </a:p>
            <a:p>
              <a:pPr algn="l">
                <a:lnSpc>
                  <a:spcPts val="2079"/>
                </a:lnSpc>
              </a:pPr>
              <a:endPara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896496" y="8531760"/>
            <a:ext cx="6329408" cy="1157116"/>
            <a:chOff x="0" y="0"/>
            <a:chExt cx="8439210" cy="154282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439210" cy="1542821"/>
            </a:xfrm>
            <a:custGeom>
              <a:avLst/>
              <a:gdLst/>
              <a:ahLst/>
              <a:cxnLst/>
              <a:rect l="l" t="t" r="r" b="b"/>
              <a:pathLst>
                <a:path w="8439210" h="1542821">
                  <a:moveTo>
                    <a:pt x="0" y="0"/>
                  </a:moveTo>
                  <a:lnTo>
                    <a:pt x="8439210" y="0"/>
                  </a:lnTo>
                  <a:lnTo>
                    <a:pt x="8439210" y="1542821"/>
                  </a:lnTo>
                  <a:lnTo>
                    <a:pt x="0" y="15428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434" r="-19186" b="-5962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8439210" cy="15713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0042" lvl="1" indent="-170021" algn="l">
                <a:lnSpc>
                  <a:spcPts val="2079"/>
                </a:lnSpc>
                <a:buFont typeface="Arial"/>
                <a:buChar char="•"/>
              </a:pPr>
              <a:r>
                <a:rPr lang="en-US" sz="15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At 1000 connections, all four engines: 0.4–0.7 ms</a:t>
              </a:r>
            </a:p>
            <a:p>
              <a:pPr marL="340042" lvl="1" indent="-170021" algn="l">
                <a:lnSpc>
                  <a:spcPts val="2079"/>
                </a:lnSpc>
                <a:buFont typeface="Arial"/>
                <a:buChar char="•"/>
              </a:pPr>
              <a:r>
                <a:rPr lang="en-US" sz="157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At 5000 conns — poll: 81.2 ms, epoll: 91.3 ms, io_uring: 52.3 ms</a:t>
              </a:r>
            </a:p>
            <a:p>
              <a:pPr algn="l">
                <a:lnSpc>
                  <a:spcPts val="2079"/>
                </a:lnSpc>
              </a:pPr>
              <a:endParaRPr lang="en-US" sz="15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-54200"/>
            <a:ext cx="18288000" cy="2207683"/>
            <a:chOff x="0" y="0"/>
            <a:chExt cx="4974443" cy="60050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974443" cy="600503"/>
            </a:xfrm>
            <a:custGeom>
              <a:avLst/>
              <a:gdLst/>
              <a:ahLst/>
              <a:cxnLst/>
              <a:rect l="l" t="t" r="r" b="b"/>
              <a:pathLst>
                <a:path w="4974443" h="600503">
                  <a:moveTo>
                    <a:pt x="0" y="0"/>
                  </a:moveTo>
                  <a:lnTo>
                    <a:pt x="4974443" y="0"/>
                  </a:lnTo>
                  <a:lnTo>
                    <a:pt x="4974443" y="600503"/>
                  </a:lnTo>
                  <a:lnTo>
                    <a:pt x="0" y="600503"/>
                  </a:ln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4974443" cy="61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22960" y="363419"/>
            <a:ext cx="16637508" cy="1790064"/>
            <a:chOff x="0" y="0"/>
            <a:chExt cx="22183344" cy="238675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2183344" cy="2386752"/>
            </a:xfrm>
            <a:custGeom>
              <a:avLst/>
              <a:gdLst/>
              <a:ahLst/>
              <a:cxnLst/>
              <a:rect l="l" t="t" r="r" b="b"/>
              <a:pathLst>
                <a:path w="22183344" h="2386752">
                  <a:moveTo>
                    <a:pt x="0" y="0"/>
                  </a:moveTo>
                  <a:lnTo>
                    <a:pt x="22183344" y="0"/>
                  </a:lnTo>
                  <a:lnTo>
                    <a:pt x="22183344" y="2386752"/>
                  </a:lnTo>
                  <a:lnTo>
                    <a:pt x="0" y="2386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347" b="-10485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0"/>
              <a:ext cx="22183344" cy="2386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999"/>
                </a:lnSpc>
              </a:pPr>
              <a:r>
                <a:rPr lang="en-US" sz="9999" spc="-299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Fixes &amp; Benchmark Results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139841" y="2235216"/>
            <a:ext cx="3449427" cy="1983772"/>
            <a:chOff x="0" y="0"/>
            <a:chExt cx="4599235" cy="264502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599235" cy="2645029"/>
            </a:xfrm>
            <a:custGeom>
              <a:avLst/>
              <a:gdLst/>
              <a:ahLst/>
              <a:cxnLst/>
              <a:rect l="l" t="t" r="r" b="b"/>
              <a:pathLst>
                <a:path w="4599235" h="2645029">
                  <a:moveTo>
                    <a:pt x="0" y="180312"/>
                  </a:moveTo>
                  <a:cubicBezTo>
                    <a:pt x="0" y="80767"/>
                    <a:pt x="47659" y="0"/>
                    <a:pt x="106398" y="0"/>
                  </a:cubicBezTo>
                  <a:lnTo>
                    <a:pt x="4492837" y="0"/>
                  </a:lnTo>
                  <a:cubicBezTo>
                    <a:pt x="4551576" y="0"/>
                    <a:pt x="4599235" y="80767"/>
                    <a:pt x="4599235" y="180312"/>
                  </a:cubicBezTo>
                  <a:lnTo>
                    <a:pt x="4599235" y="2464718"/>
                  </a:lnTo>
                  <a:cubicBezTo>
                    <a:pt x="4599235" y="2564262"/>
                    <a:pt x="4551576" y="2645029"/>
                    <a:pt x="4492837" y="2645029"/>
                  </a:cubicBezTo>
                  <a:lnTo>
                    <a:pt x="106398" y="2645029"/>
                  </a:lnTo>
                  <a:cubicBezTo>
                    <a:pt x="47659" y="2645029"/>
                    <a:pt x="0" y="2564262"/>
                    <a:pt x="0" y="2464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0548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302798" y="2489247"/>
            <a:ext cx="299153" cy="466344"/>
            <a:chOff x="0" y="0"/>
            <a:chExt cx="398871" cy="6217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98871" cy="621792"/>
            </a:xfrm>
            <a:custGeom>
              <a:avLst/>
              <a:gdLst/>
              <a:ahLst/>
              <a:cxnLst/>
              <a:rect l="l" t="t" r="r" b="b"/>
              <a:pathLst>
                <a:path w="398871" h="621792">
                  <a:moveTo>
                    <a:pt x="0" y="310896"/>
                  </a:moveTo>
                  <a:cubicBezTo>
                    <a:pt x="0" y="139192"/>
                    <a:pt x="89290" y="0"/>
                    <a:pt x="199435" y="0"/>
                  </a:cubicBezTo>
                  <a:cubicBezTo>
                    <a:pt x="309581" y="0"/>
                    <a:pt x="398871" y="139192"/>
                    <a:pt x="398871" y="310896"/>
                  </a:cubicBezTo>
                  <a:cubicBezTo>
                    <a:pt x="398871" y="482600"/>
                    <a:pt x="309581" y="621792"/>
                    <a:pt x="199435" y="621792"/>
                  </a:cubicBezTo>
                  <a:cubicBezTo>
                    <a:pt x="8929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302798" y="2489247"/>
            <a:ext cx="299153" cy="466344"/>
            <a:chOff x="0" y="0"/>
            <a:chExt cx="398871" cy="62179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98871" cy="621792"/>
            </a:xfrm>
            <a:custGeom>
              <a:avLst/>
              <a:gdLst/>
              <a:ahLst/>
              <a:cxnLst/>
              <a:rect l="l" t="t" r="r" b="b"/>
              <a:pathLst>
                <a:path w="398871" h="621792">
                  <a:moveTo>
                    <a:pt x="199435" y="0"/>
                  </a:moveTo>
                  <a:lnTo>
                    <a:pt x="199435" y="0"/>
                  </a:lnTo>
                  <a:cubicBezTo>
                    <a:pt x="309581" y="0"/>
                    <a:pt x="398871" y="89290"/>
                    <a:pt x="398871" y="199435"/>
                  </a:cubicBezTo>
                  <a:lnTo>
                    <a:pt x="398871" y="422357"/>
                  </a:lnTo>
                  <a:cubicBezTo>
                    <a:pt x="398871" y="532502"/>
                    <a:pt x="309581" y="621792"/>
                    <a:pt x="199435" y="621792"/>
                  </a:cubicBezTo>
                  <a:lnTo>
                    <a:pt x="199435" y="621792"/>
                  </a:lnTo>
                  <a:cubicBezTo>
                    <a:pt x="89290" y="621792"/>
                    <a:pt x="0" y="532502"/>
                    <a:pt x="0" y="422357"/>
                  </a:cubicBezTo>
                  <a:lnTo>
                    <a:pt x="0" y="199435"/>
                  </a:lnTo>
                  <a:cubicBezTo>
                    <a:pt x="0" y="89290"/>
                    <a:pt x="89290" y="0"/>
                    <a:pt x="199435" y="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398871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i="1" spc="-40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4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302942" y="2946447"/>
            <a:ext cx="3217509" cy="1411845"/>
            <a:chOff x="0" y="0"/>
            <a:chExt cx="4290011" cy="18824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290011" cy="1882460"/>
            </a:xfrm>
            <a:custGeom>
              <a:avLst/>
              <a:gdLst/>
              <a:ahLst/>
              <a:cxnLst/>
              <a:rect l="l" t="t" r="r" b="b"/>
              <a:pathLst>
                <a:path w="4290011" h="1882460">
                  <a:moveTo>
                    <a:pt x="0" y="0"/>
                  </a:moveTo>
                  <a:lnTo>
                    <a:pt x="4290011" y="0"/>
                  </a:lnTo>
                  <a:lnTo>
                    <a:pt x="4290011" y="1882460"/>
                  </a:lnTo>
                  <a:lnTo>
                    <a:pt x="0" y="1882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26" r="-49628" b="34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4290011" cy="1901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3"/>
                </a:lnSpc>
              </a:pPr>
              <a:r>
                <a:rPr lang="en-US" sz="124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64 KB per-client buffer; flush_outbound_buffer retries until EAGAIN; memmove shifts remaining bytes; zero data loss under backpressure.</a:t>
              </a:r>
            </a:p>
            <a:p>
              <a:pPr algn="l">
                <a:lnSpc>
                  <a:spcPts val="1643"/>
                </a:lnSpc>
              </a:pPr>
              <a:endParaRPr lang="en-US" sz="12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674992" y="2235216"/>
            <a:ext cx="3449427" cy="1983772"/>
            <a:chOff x="0" y="0"/>
            <a:chExt cx="4599235" cy="2645029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599235" cy="2645029"/>
            </a:xfrm>
            <a:custGeom>
              <a:avLst/>
              <a:gdLst/>
              <a:ahLst/>
              <a:cxnLst/>
              <a:rect l="l" t="t" r="r" b="b"/>
              <a:pathLst>
                <a:path w="4599235" h="2645029">
                  <a:moveTo>
                    <a:pt x="0" y="180312"/>
                  </a:moveTo>
                  <a:cubicBezTo>
                    <a:pt x="0" y="80767"/>
                    <a:pt x="47659" y="0"/>
                    <a:pt x="106398" y="0"/>
                  </a:cubicBezTo>
                  <a:lnTo>
                    <a:pt x="4492837" y="0"/>
                  </a:lnTo>
                  <a:cubicBezTo>
                    <a:pt x="4551576" y="0"/>
                    <a:pt x="4599235" y="80767"/>
                    <a:pt x="4599235" y="180312"/>
                  </a:cubicBezTo>
                  <a:lnTo>
                    <a:pt x="4599235" y="2464718"/>
                  </a:lnTo>
                  <a:cubicBezTo>
                    <a:pt x="4599235" y="2564262"/>
                    <a:pt x="4551576" y="2645029"/>
                    <a:pt x="4492837" y="2645029"/>
                  </a:cubicBezTo>
                  <a:lnTo>
                    <a:pt x="106398" y="2645029"/>
                  </a:lnTo>
                  <a:cubicBezTo>
                    <a:pt x="47659" y="2645029"/>
                    <a:pt x="0" y="2564262"/>
                    <a:pt x="0" y="2464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00548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4837950" y="2489247"/>
            <a:ext cx="299153" cy="466344"/>
            <a:chOff x="0" y="0"/>
            <a:chExt cx="398871" cy="62179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98871" cy="621792"/>
            </a:xfrm>
            <a:custGeom>
              <a:avLst/>
              <a:gdLst/>
              <a:ahLst/>
              <a:cxnLst/>
              <a:rect l="l" t="t" r="r" b="b"/>
              <a:pathLst>
                <a:path w="398871" h="621792">
                  <a:moveTo>
                    <a:pt x="0" y="310896"/>
                  </a:moveTo>
                  <a:cubicBezTo>
                    <a:pt x="0" y="139192"/>
                    <a:pt x="89290" y="0"/>
                    <a:pt x="199435" y="0"/>
                  </a:cubicBezTo>
                  <a:cubicBezTo>
                    <a:pt x="309581" y="0"/>
                    <a:pt x="398871" y="139192"/>
                    <a:pt x="398871" y="310896"/>
                  </a:cubicBezTo>
                  <a:cubicBezTo>
                    <a:pt x="398871" y="482600"/>
                    <a:pt x="309581" y="621792"/>
                    <a:pt x="199435" y="621792"/>
                  </a:cubicBezTo>
                  <a:cubicBezTo>
                    <a:pt x="89290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837950" y="2489247"/>
            <a:ext cx="299153" cy="466344"/>
            <a:chOff x="0" y="0"/>
            <a:chExt cx="398871" cy="62179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98871" cy="621792"/>
            </a:xfrm>
            <a:custGeom>
              <a:avLst/>
              <a:gdLst/>
              <a:ahLst/>
              <a:cxnLst/>
              <a:rect l="l" t="t" r="r" b="b"/>
              <a:pathLst>
                <a:path w="398871" h="621792">
                  <a:moveTo>
                    <a:pt x="199435" y="0"/>
                  </a:moveTo>
                  <a:lnTo>
                    <a:pt x="199435" y="0"/>
                  </a:lnTo>
                  <a:cubicBezTo>
                    <a:pt x="309581" y="0"/>
                    <a:pt x="398871" y="89290"/>
                    <a:pt x="398871" y="199435"/>
                  </a:cubicBezTo>
                  <a:lnTo>
                    <a:pt x="398871" y="422357"/>
                  </a:lnTo>
                  <a:cubicBezTo>
                    <a:pt x="398871" y="532502"/>
                    <a:pt x="309581" y="621792"/>
                    <a:pt x="199435" y="621792"/>
                  </a:cubicBezTo>
                  <a:lnTo>
                    <a:pt x="199435" y="621792"/>
                  </a:lnTo>
                  <a:cubicBezTo>
                    <a:pt x="89290" y="621792"/>
                    <a:pt x="0" y="532502"/>
                    <a:pt x="0" y="422357"/>
                  </a:cubicBezTo>
                  <a:lnTo>
                    <a:pt x="0" y="199435"/>
                  </a:lnTo>
                  <a:cubicBezTo>
                    <a:pt x="0" y="89290"/>
                    <a:pt x="89290" y="0"/>
                    <a:pt x="199435" y="0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398871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0"/>
                </a:lnSpc>
              </a:pPr>
              <a:r>
                <a:rPr lang="en-US" sz="1350" i="1" spc="-40">
                  <a:solidFill>
                    <a:srgbClr val="FFFFFF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5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4838093" y="2946447"/>
            <a:ext cx="3217509" cy="1411845"/>
            <a:chOff x="0" y="0"/>
            <a:chExt cx="4290011" cy="188246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290011" cy="1882460"/>
            </a:xfrm>
            <a:custGeom>
              <a:avLst/>
              <a:gdLst/>
              <a:ahLst/>
              <a:cxnLst/>
              <a:rect l="l" t="t" r="r" b="b"/>
              <a:pathLst>
                <a:path w="4290011" h="1882460">
                  <a:moveTo>
                    <a:pt x="0" y="0"/>
                  </a:moveTo>
                  <a:lnTo>
                    <a:pt x="4290011" y="0"/>
                  </a:lnTo>
                  <a:lnTo>
                    <a:pt x="4290011" y="1882460"/>
                  </a:lnTo>
                  <a:lnTo>
                    <a:pt x="0" y="18824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326" r="-49628" b="34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4290011" cy="1901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43"/>
                </a:lnSpc>
              </a:pPr>
              <a:r>
                <a:rPr lang="en-US" sz="124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If fewer than 4 SQ slots remain during CQ drain, ring_submit(r, 0) is called immediately to prevent ring exhaustion under 5000+ connection bursts.</a:t>
              </a:r>
            </a:p>
            <a:p>
              <a:pPr algn="l">
                <a:lnSpc>
                  <a:spcPts val="1643"/>
                </a:lnSpc>
              </a:pPr>
              <a:endParaRPr lang="en-US" sz="12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844066" y="2570019"/>
            <a:ext cx="275396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1" spc="-45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Enforcing select's 1024-fd Limit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457306" y="2470197"/>
            <a:ext cx="2753969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1" spc="-45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Idiomatic io_uring Accept (fcntl Removed):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070261" y="2479341"/>
            <a:ext cx="2753969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1" spc="-45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MAX_CLIENTS Actually Enforced for io_uring: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684215" y="2479341"/>
            <a:ext cx="2753969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1" spc="-45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Output Buffer + Flush State Machine (all engines):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5219367" y="2479341"/>
            <a:ext cx="2753969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i="1" spc="-45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Mid-loop SQ Drain (maybe_flush):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7075" y="2439233"/>
            <a:ext cx="16637508" cy="938460"/>
            <a:chOff x="0" y="0"/>
            <a:chExt cx="22183344" cy="1251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83344" cy="1251280"/>
            </a:xfrm>
            <a:custGeom>
              <a:avLst/>
              <a:gdLst/>
              <a:ahLst/>
              <a:cxnLst/>
              <a:rect l="l" t="t" r="r" b="b"/>
              <a:pathLst>
                <a:path w="22183344" h="1251280">
                  <a:moveTo>
                    <a:pt x="0" y="0"/>
                  </a:moveTo>
                  <a:lnTo>
                    <a:pt x="22183344" y="0"/>
                  </a:lnTo>
                  <a:lnTo>
                    <a:pt x="22183344" y="1251280"/>
                  </a:lnTo>
                  <a:lnTo>
                    <a:pt x="0" y="1251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0594" b="-27028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83344" cy="1260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Setup : tcpkali (core 1) drives load against the server (core 0)  ·  loads swept 10 → 10,000 connections  ·  measured over a 10s sustained window  · 512-byte message payload  · connect-rate 10,000/s</a:t>
              </a:r>
            </a:p>
            <a:p>
              <a:pPr algn="l">
                <a:lnSpc>
                  <a:spcPts val="2070"/>
                </a:lnSpc>
              </a:pPr>
              <a:endParaRPr lang="en-US" sz="17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63089" y="3429677"/>
            <a:ext cx="6438496" cy="3863098"/>
            <a:chOff x="0" y="0"/>
            <a:chExt cx="10058400" cy="60350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058400" cy="6035040"/>
            </a:xfrm>
            <a:custGeom>
              <a:avLst/>
              <a:gdLst/>
              <a:ahLst/>
              <a:cxnLst/>
              <a:rect l="l" t="t" r="r" b="b"/>
              <a:pathLst>
                <a:path w="10058400" h="6035040">
                  <a:moveTo>
                    <a:pt x="0" y="0"/>
                  </a:moveTo>
                  <a:lnTo>
                    <a:pt x="10058400" y="0"/>
                  </a:lnTo>
                  <a:lnTo>
                    <a:pt x="10058400" y="6035040"/>
                  </a:lnTo>
                  <a:lnTo>
                    <a:pt x="0" y="603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32" b="-1432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916668" y="3429677"/>
            <a:ext cx="6438496" cy="3863098"/>
            <a:chOff x="0" y="0"/>
            <a:chExt cx="10058400" cy="60350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58400" cy="6035040"/>
            </a:xfrm>
            <a:custGeom>
              <a:avLst/>
              <a:gdLst/>
              <a:ahLst/>
              <a:cxnLst/>
              <a:rect l="l" t="t" r="r" b="b"/>
              <a:pathLst>
                <a:path w="10058400" h="6035040">
                  <a:moveTo>
                    <a:pt x="0" y="0"/>
                  </a:moveTo>
                  <a:lnTo>
                    <a:pt x="10058400" y="0"/>
                  </a:lnTo>
                  <a:lnTo>
                    <a:pt x="10058400" y="6035040"/>
                  </a:lnTo>
                  <a:lnTo>
                    <a:pt x="0" y="603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13" b="-2213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95082" y="6845153"/>
            <a:ext cx="7374510" cy="3441847"/>
            <a:chOff x="0" y="0"/>
            <a:chExt cx="9832680" cy="45891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32680" cy="4589130"/>
            </a:xfrm>
            <a:custGeom>
              <a:avLst/>
              <a:gdLst/>
              <a:ahLst/>
              <a:cxnLst/>
              <a:rect l="l" t="t" r="r" b="b"/>
              <a:pathLst>
                <a:path w="9832680" h="4589130">
                  <a:moveTo>
                    <a:pt x="0" y="0"/>
                  </a:moveTo>
                  <a:lnTo>
                    <a:pt x="9832680" y="0"/>
                  </a:lnTo>
                  <a:lnTo>
                    <a:pt x="9832680" y="4589130"/>
                  </a:lnTo>
                  <a:lnTo>
                    <a:pt x="0" y="4589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30" r="-2295" b="244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832680" cy="4636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56985" lvl="1" indent="-128493" algn="l">
                <a:lnSpc>
                  <a:spcPts val="1908"/>
                </a:lnSpc>
                <a:buFont typeface="Arial"/>
                <a:buChar char="•"/>
              </a:pPr>
              <a:r>
                <a:rPr lang="en-US" sz="14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select: Competitive at low load (~4465 Mbps @ 10 conns, ~4025 Mbps @ 1000 conns), then collapses to NaN at 1500+ conns due to the 1024-fd hard limit.</a:t>
              </a:r>
            </a:p>
            <a:p>
              <a:pPr marL="256985" lvl="1" indent="-128493" algn="l">
                <a:lnSpc>
                  <a:spcPts val="1908"/>
                </a:lnSpc>
                <a:buFont typeface="Arial"/>
                <a:buChar char="•"/>
              </a:pPr>
              <a:r>
                <a:rPr lang="en-US" sz="14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poll: Starts strong (~4300 Mbps @ 10 conns), degrades steadily to ~2364 Mbps @ 5000 conns due to O(N)O(N) full-array copy on every call.</a:t>
              </a:r>
            </a:p>
            <a:p>
              <a:pPr marL="256985" lvl="1" indent="-128493" algn="l">
                <a:lnSpc>
                  <a:spcPts val="1908"/>
                </a:lnSpc>
                <a:buFont typeface="Arial"/>
                <a:buChar char="•"/>
              </a:pPr>
              <a:r>
                <a:rPr lang="en-US" sz="14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epoll: ~3240 Mbps @ 10 conns, peaks ~3960 Mbps @ 100 conns, holds ~2747 Mbps @ 5000 conns. Most consistent curve at mid-to-high load.</a:t>
              </a:r>
            </a:p>
            <a:p>
              <a:pPr marL="256985" lvl="1" indent="-128493" algn="l">
                <a:lnSpc>
                  <a:spcPts val="1908"/>
                </a:lnSpc>
                <a:buFont typeface="Arial"/>
                <a:buChar char="•"/>
              </a:pPr>
              <a:r>
                <a:rPr lang="en-US" sz="14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io_uring: ~4417 Mbps @ 10 conns, drops to ~3109 Mbps @ 1000 conns as CQE harvest cost grows; stabilises ~2472–2756 Mbps at 5000–10,000 conns.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729846" y="7578524"/>
            <a:ext cx="6812140" cy="2263140"/>
            <a:chOff x="0" y="0"/>
            <a:chExt cx="9082854" cy="3017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82853" cy="3017520"/>
            </a:xfrm>
            <a:custGeom>
              <a:avLst/>
              <a:gdLst/>
              <a:ahLst/>
              <a:cxnLst/>
              <a:rect l="l" t="t" r="r" b="b"/>
              <a:pathLst>
                <a:path w="9082853" h="3017520">
                  <a:moveTo>
                    <a:pt x="0" y="0"/>
                  </a:moveTo>
                  <a:lnTo>
                    <a:pt x="9082853" y="0"/>
                  </a:lnTo>
                  <a:lnTo>
                    <a:pt x="9082853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r="-10740" b="-149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082854" cy="3055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93180" lvl="1" indent="-146590" algn="l">
                <a:lnSpc>
                  <a:spcPts val="2177"/>
                </a:lnSpc>
                <a:buFont typeface="Arial"/>
                <a:buChar char="•"/>
              </a:pPr>
              <a:r>
                <a:rPr lang="en-US" sz="16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All engines track closely below 1000 conns (&lt; 1 ms p99).</a:t>
              </a:r>
            </a:p>
            <a:p>
              <a:pPr marL="293180" lvl="1" indent="-146590" algn="l">
                <a:lnSpc>
                  <a:spcPts val="2177"/>
                </a:lnSpc>
                <a:buFont typeface="Arial"/>
                <a:buChar char="•"/>
              </a:pPr>
              <a:r>
                <a:rPr lang="en-US" sz="16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At 2000 conns: poll jumps to 36.2 ms, epoll to 37.4 ms, io_uring to 32.0 ms.</a:t>
              </a:r>
            </a:p>
            <a:p>
              <a:pPr marL="293180" lvl="1" indent="-146590" algn="l">
                <a:lnSpc>
                  <a:spcPts val="2177"/>
                </a:lnSpc>
                <a:buFont typeface="Arial"/>
                <a:buChar char="•"/>
              </a:pPr>
              <a:r>
                <a:rPr lang="en-US" sz="16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At 5000 conns: poll 81.2 ms, epoll 91.3 ms, io_uring 52.3 ms.</a:t>
              </a:r>
            </a:p>
            <a:p>
              <a:pPr marL="293180" lvl="1" indent="-146590" algn="l">
                <a:lnSpc>
                  <a:spcPts val="2177"/>
                </a:lnSpc>
                <a:buFont typeface="Arial"/>
                <a:buChar char="•"/>
              </a:pPr>
              <a:r>
                <a:rPr lang="en-US" sz="16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At 6000+ conns: poll and epoll spike to 1.5–2.6 s; io_uring stays in the 52–88 ms range.</a:t>
              </a:r>
            </a:p>
            <a:p>
              <a:pPr marL="256985" lvl="1" indent="-128493" algn="l">
                <a:lnSpc>
                  <a:spcPts val="1908"/>
                </a:lnSpc>
                <a:buFont typeface="Arial"/>
                <a:buChar char="•"/>
              </a:pPr>
              <a:r>
                <a:rPr lang="en-US" sz="14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select shows sub-millisecond p99 at ≤ 1000 conns (its valid operating range).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-54200"/>
            <a:ext cx="18288000" cy="2207683"/>
            <a:chOff x="0" y="0"/>
            <a:chExt cx="4974443" cy="6005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74443" cy="600503"/>
            </a:xfrm>
            <a:custGeom>
              <a:avLst/>
              <a:gdLst/>
              <a:ahLst/>
              <a:cxnLst/>
              <a:rect l="l" t="t" r="r" b="b"/>
              <a:pathLst>
                <a:path w="4974443" h="600503">
                  <a:moveTo>
                    <a:pt x="0" y="0"/>
                  </a:moveTo>
                  <a:lnTo>
                    <a:pt x="4974443" y="0"/>
                  </a:lnTo>
                  <a:lnTo>
                    <a:pt x="4974443" y="600503"/>
                  </a:lnTo>
                  <a:lnTo>
                    <a:pt x="0" y="600503"/>
                  </a:ln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974443" cy="61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2960" y="363419"/>
            <a:ext cx="16637508" cy="1790064"/>
            <a:chOff x="0" y="0"/>
            <a:chExt cx="22183344" cy="23867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183344" cy="2386752"/>
            </a:xfrm>
            <a:custGeom>
              <a:avLst/>
              <a:gdLst/>
              <a:ahLst/>
              <a:cxnLst/>
              <a:rect l="l" t="t" r="r" b="b"/>
              <a:pathLst>
                <a:path w="22183344" h="2386752">
                  <a:moveTo>
                    <a:pt x="0" y="0"/>
                  </a:moveTo>
                  <a:lnTo>
                    <a:pt x="22183344" y="0"/>
                  </a:lnTo>
                  <a:lnTo>
                    <a:pt x="22183344" y="2386752"/>
                  </a:lnTo>
                  <a:lnTo>
                    <a:pt x="0" y="2386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347" b="-10485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2183344" cy="2386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999"/>
                </a:lnSpc>
              </a:pPr>
              <a:r>
                <a:rPr lang="en-US" sz="9999" spc="-299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Non-functional Analysis</a:t>
              </a:r>
            </a:p>
          </p:txBody>
        </p:sp>
      </p:grp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8013" y="2465156"/>
            <a:ext cx="6036760" cy="3737235"/>
            <a:chOff x="0" y="0"/>
            <a:chExt cx="9748406" cy="60350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48407" cy="6035040"/>
            </a:xfrm>
            <a:custGeom>
              <a:avLst/>
              <a:gdLst/>
              <a:ahLst/>
              <a:cxnLst/>
              <a:rect l="l" t="t" r="r" b="b"/>
              <a:pathLst>
                <a:path w="9748407" h="6035040">
                  <a:moveTo>
                    <a:pt x="0" y="0"/>
                  </a:moveTo>
                  <a:lnTo>
                    <a:pt x="9748407" y="0"/>
                  </a:lnTo>
                  <a:lnTo>
                    <a:pt x="9748407" y="6035040"/>
                  </a:lnTo>
                  <a:lnTo>
                    <a:pt x="0" y="603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8" b="-28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5954956"/>
            <a:ext cx="7543800" cy="2889397"/>
            <a:chOff x="0" y="0"/>
            <a:chExt cx="10058400" cy="38525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0" cy="3852530"/>
            </a:xfrm>
            <a:custGeom>
              <a:avLst/>
              <a:gdLst/>
              <a:ahLst/>
              <a:cxnLst/>
              <a:rect l="l" t="t" r="r" b="b"/>
              <a:pathLst>
                <a:path w="10058400" h="3852530">
                  <a:moveTo>
                    <a:pt x="0" y="0"/>
                  </a:moveTo>
                  <a:lnTo>
                    <a:pt x="10058400" y="0"/>
                  </a:lnTo>
                  <a:lnTo>
                    <a:pt x="10058400" y="3852530"/>
                  </a:lnTo>
                  <a:lnTo>
                    <a:pt x="0" y="38525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270" b="135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0058400" cy="39001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56985" lvl="1" indent="-128493" algn="l">
                <a:lnSpc>
                  <a:spcPts val="1908"/>
                </a:lnSpc>
                <a:buFont typeface="Arial"/>
                <a:buChar char="•"/>
              </a:pPr>
              <a:r>
                <a:rPr lang="en-US" sz="14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select / poll / epoll: Dominated by sendto + recvfrom at low loads (10K–26K calls @ 10 conns); primary multiplexing syscall (pselect6 / poll / epoll_wait) is comparatively rare.</a:t>
              </a:r>
            </a:p>
            <a:p>
              <a:pPr marL="256985" lvl="1" indent="-128493" algn="l">
                <a:lnSpc>
                  <a:spcPts val="1908"/>
                </a:lnSpc>
                <a:buFont typeface="Arial"/>
                <a:buChar char="•"/>
              </a:pPr>
              <a:r>
                <a:rPr lang="en-US" sz="14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io_uring: sendto/recvfrom replaced by ring operations; io_uring_enter calls reduced via batching — measurably fewer multiplexing-layer syscalls at scale.</a:t>
              </a:r>
            </a:p>
            <a:p>
              <a:pPr marL="256985" lvl="1" indent="-128493" algn="l">
                <a:lnSpc>
                  <a:spcPts val="1908"/>
                </a:lnSpc>
                <a:buFont typeface="Arial"/>
                <a:buChar char="•"/>
              </a:pPr>
              <a:r>
                <a:rPr lang="en-US" sz="142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Paradox: Fewer syscalls ≠ fastest — memory-barrier cost on the SQ/CQ rings and CQE harvest overhead replaces syscall overhead for small 512-byte echo messages.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22960" y="8649081"/>
            <a:ext cx="8229600" cy="390544"/>
            <a:chOff x="0" y="0"/>
            <a:chExt cx="10972800" cy="5207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72800" cy="520725"/>
            </a:xfrm>
            <a:custGeom>
              <a:avLst/>
              <a:gdLst/>
              <a:ahLst/>
              <a:cxnLst/>
              <a:rect l="l" t="t" r="r" b="b"/>
              <a:pathLst>
                <a:path w="10972800" h="520725">
                  <a:moveTo>
                    <a:pt x="0" y="0"/>
                  </a:moveTo>
                  <a:lnTo>
                    <a:pt x="10972800" y="0"/>
                  </a:lnTo>
                  <a:lnTo>
                    <a:pt x="10972800" y="520725"/>
                  </a:lnTo>
                  <a:lnTo>
                    <a:pt x="0" y="5207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1423" b="-3597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0972800" cy="5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RELIABILITY &amp; CORRECTNESS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2960" y="9115425"/>
            <a:ext cx="3173882" cy="576072"/>
            <a:chOff x="0" y="0"/>
            <a:chExt cx="4231843" cy="7680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31894" cy="768096"/>
            </a:xfrm>
            <a:custGeom>
              <a:avLst/>
              <a:gdLst/>
              <a:ahLst/>
              <a:cxnLst/>
              <a:rect l="l" t="t" r="r" b="b"/>
              <a:pathLst>
                <a:path w="4231894" h="76809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85590" y="0"/>
                  </a:lnTo>
                  <a:cubicBezTo>
                    <a:pt x="4166362" y="0"/>
                    <a:pt x="4231894" y="65532"/>
                    <a:pt x="4231894" y="146304"/>
                  </a:cubicBezTo>
                  <a:lnTo>
                    <a:pt x="4231894" y="621792"/>
                  </a:lnTo>
                  <a:cubicBezTo>
                    <a:pt x="4231894" y="702564"/>
                    <a:pt x="4166362" y="768096"/>
                    <a:pt x="4085590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2960" y="9115425"/>
            <a:ext cx="3173882" cy="576072"/>
            <a:chOff x="0" y="0"/>
            <a:chExt cx="4231843" cy="7680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31844" cy="768096"/>
            </a:xfrm>
            <a:custGeom>
              <a:avLst/>
              <a:gdLst/>
              <a:ahLst/>
              <a:cxnLst/>
              <a:rect l="l" t="t" r="r" b="b"/>
              <a:pathLst>
                <a:path w="4231844" h="768096">
                  <a:moveTo>
                    <a:pt x="0" y="0"/>
                  </a:moveTo>
                  <a:lnTo>
                    <a:pt x="4231844" y="0"/>
                  </a:lnTo>
                  <a:lnTo>
                    <a:pt x="42318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353" b="-573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231843" cy="7966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Graceful disconnect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88866" y="9115425"/>
            <a:ext cx="3173882" cy="576072"/>
            <a:chOff x="0" y="0"/>
            <a:chExt cx="4231843" cy="7680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31894" cy="768096"/>
            </a:xfrm>
            <a:custGeom>
              <a:avLst/>
              <a:gdLst/>
              <a:ahLst/>
              <a:cxnLst/>
              <a:rect l="l" t="t" r="r" b="b"/>
              <a:pathLst>
                <a:path w="4231894" h="76809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85590" y="0"/>
                  </a:lnTo>
                  <a:cubicBezTo>
                    <a:pt x="4166362" y="0"/>
                    <a:pt x="4231894" y="65532"/>
                    <a:pt x="4231894" y="146304"/>
                  </a:cubicBezTo>
                  <a:lnTo>
                    <a:pt x="4231894" y="621792"/>
                  </a:lnTo>
                  <a:cubicBezTo>
                    <a:pt x="4231894" y="702564"/>
                    <a:pt x="4166362" y="768096"/>
                    <a:pt x="4085590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88866" y="9115425"/>
            <a:ext cx="3173882" cy="576072"/>
            <a:chOff x="0" y="0"/>
            <a:chExt cx="4231843" cy="7680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31844" cy="768096"/>
            </a:xfrm>
            <a:custGeom>
              <a:avLst/>
              <a:gdLst/>
              <a:ahLst/>
              <a:cxnLst/>
              <a:rect l="l" t="t" r="r" b="b"/>
              <a:pathLst>
                <a:path w="4231844" h="768096">
                  <a:moveTo>
                    <a:pt x="0" y="0"/>
                  </a:moveTo>
                  <a:lnTo>
                    <a:pt x="4231844" y="0"/>
                  </a:lnTo>
                  <a:lnTo>
                    <a:pt x="42318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353" b="-573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4231843" cy="7966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EAGAIN handled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54773" y="9115425"/>
            <a:ext cx="3173882" cy="576072"/>
            <a:chOff x="0" y="0"/>
            <a:chExt cx="4231843" cy="76809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31894" cy="768096"/>
            </a:xfrm>
            <a:custGeom>
              <a:avLst/>
              <a:gdLst/>
              <a:ahLst/>
              <a:cxnLst/>
              <a:rect l="l" t="t" r="r" b="b"/>
              <a:pathLst>
                <a:path w="4231894" h="76809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85590" y="0"/>
                  </a:lnTo>
                  <a:cubicBezTo>
                    <a:pt x="4166362" y="0"/>
                    <a:pt x="4231894" y="65532"/>
                    <a:pt x="4231894" y="146304"/>
                  </a:cubicBezTo>
                  <a:lnTo>
                    <a:pt x="4231894" y="621792"/>
                  </a:lnTo>
                  <a:cubicBezTo>
                    <a:pt x="4231894" y="702564"/>
                    <a:pt x="4166362" y="768096"/>
                    <a:pt x="4085590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54773" y="9115425"/>
            <a:ext cx="3173882" cy="576072"/>
            <a:chOff x="0" y="0"/>
            <a:chExt cx="4231843" cy="76809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231844" cy="768096"/>
            </a:xfrm>
            <a:custGeom>
              <a:avLst/>
              <a:gdLst/>
              <a:ahLst/>
              <a:cxnLst/>
              <a:rect l="l" t="t" r="r" b="b"/>
              <a:pathLst>
                <a:path w="4231844" h="768096">
                  <a:moveTo>
                    <a:pt x="0" y="0"/>
                  </a:moveTo>
                  <a:lnTo>
                    <a:pt x="4231844" y="0"/>
                  </a:lnTo>
                  <a:lnTo>
                    <a:pt x="42318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353" b="-573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4231843" cy="7966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SIGPIPE suppressed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920679" y="9115425"/>
            <a:ext cx="3173882" cy="576072"/>
            <a:chOff x="0" y="0"/>
            <a:chExt cx="4231843" cy="7680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231894" cy="768096"/>
            </a:xfrm>
            <a:custGeom>
              <a:avLst/>
              <a:gdLst/>
              <a:ahLst/>
              <a:cxnLst/>
              <a:rect l="l" t="t" r="r" b="b"/>
              <a:pathLst>
                <a:path w="4231894" h="76809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85590" y="0"/>
                  </a:lnTo>
                  <a:cubicBezTo>
                    <a:pt x="4166362" y="0"/>
                    <a:pt x="4231894" y="65532"/>
                    <a:pt x="4231894" y="146304"/>
                  </a:cubicBezTo>
                  <a:lnTo>
                    <a:pt x="4231894" y="621792"/>
                  </a:lnTo>
                  <a:cubicBezTo>
                    <a:pt x="4231894" y="702564"/>
                    <a:pt x="4166362" y="768096"/>
                    <a:pt x="4085590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920679" y="9115425"/>
            <a:ext cx="3173882" cy="576072"/>
            <a:chOff x="0" y="0"/>
            <a:chExt cx="4231843" cy="76809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31844" cy="768096"/>
            </a:xfrm>
            <a:custGeom>
              <a:avLst/>
              <a:gdLst/>
              <a:ahLst/>
              <a:cxnLst/>
              <a:rect l="l" t="t" r="r" b="b"/>
              <a:pathLst>
                <a:path w="4231844" h="768096">
                  <a:moveTo>
                    <a:pt x="0" y="0"/>
                  </a:moveTo>
                  <a:lnTo>
                    <a:pt x="4231844" y="0"/>
                  </a:lnTo>
                  <a:lnTo>
                    <a:pt x="42318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353" b="-573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4231843" cy="7966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Ring-exhaustion guard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286586" y="9115425"/>
            <a:ext cx="3173882" cy="576072"/>
            <a:chOff x="0" y="0"/>
            <a:chExt cx="4231843" cy="76809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231894" cy="768096"/>
            </a:xfrm>
            <a:custGeom>
              <a:avLst/>
              <a:gdLst/>
              <a:ahLst/>
              <a:cxnLst/>
              <a:rect l="l" t="t" r="r" b="b"/>
              <a:pathLst>
                <a:path w="4231894" h="76809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085590" y="0"/>
                  </a:lnTo>
                  <a:cubicBezTo>
                    <a:pt x="4166362" y="0"/>
                    <a:pt x="4231894" y="65532"/>
                    <a:pt x="4231894" y="146304"/>
                  </a:cubicBezTo>
                  <a:lnTo>
                    <a:pt x="4231894" y="621792"/>
                  </a:lnTo>
                  <a:cubicBezTo>
                    <a:pt x="4231894" y="702564"/>
                    <a:pt x="4166362" y="768096"/>
                    <a:pt x="4085590" y="768096"/>
                  </a:cubicBezTo>
                  <a:lnTo>
                    <a:pt x="146304" y="768096"/>
                  </a:lnTo>
                  <a:cubicBezTo>
                    <a:pt x="65532" y="768096"/>
                    <a:pt x="0" y="702564"/>
                    <a:pt x="0" y="621792"/>
                  </a:cubicBez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286586" y="9115425"/>
            <a:ext cx="3173882" cy="576072"/>
            <a:chOff x="0" y="0"/>
            <a:chExt cx="4231843" cy="7680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231844" cy="768096"/>
            </a:xfrm>
            <a:custGeom>
              <a:avLst/>
              <a:gdLst/>
              <a:ahLst/>
              <a:cxnLst/>
              <a:rect l="l" t="t" r="r" b="b"/>
              <a:pathLst>
                <a:path w="4231844" h="768096">
                  <a:moveTo>
                    <a:pt x="0" y="0"/>
                  </a:moveTo>
                  <a:lnTo>
                    <a:pt x="4231844" y="0"/>
                  </a:lnTo>
                  <a:lnTo>
                    <a:pt x="423184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353" b="-573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4231843" cy="7966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Zero data loss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-54200"/>
            <a:ext cx="18288000" cy="2207683"/>
            <a:chOff x="0" y="0"/>
            <a:chExt cx="4974443" cy="60050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974443" cy="600503"/>
            </a:xfrm>
            <a:custGeom>
              <a:avLst/>
              <a:gdLst/>
              <a:ahLst/>
              <a:cxnLst/>
              <a:rect l="l" t="t" r="r" b="b"/>
              <a:pathLst>
                <a:path w="4974443" h="600503">
                  <a:moveTo>
                    <a:pt x="0" y="0"/>
                  </a:moveTo>
                  <a:lnTo>
                    <a:pt x="4974443" y="0"/>
                  </a:lnTo>
                  <a:lnTo>
                    <a:pt x="4974443" y="600503"/>
                  </a:lnTo>
                  <a:lnTo>
                    <a:pt x="0" y="600503"/>
                  </a:ln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4974443" cy="61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2960" y="363419"/>
            <a:ext cx="16637508" cy="1790064"/>
            <a:chOff x="0" y="0"/>
            <a:chExt cx="22183344" cy="238675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2183344" cy="2386752"/>
            </a:xfrm>
            <a:custGeom>
              <a:avLst/>
              <a:gdLst/>
              <a:ahLst/>
              <a:cxnLst/>
              <a:rect l="l" t="t" r="r" b="b"/>
              <a:pathLst>
                <a:path w="22183344" h="2386752">
                  <a:moveTo>
                    <a:pt x="0" y="0"/>
                  </a:moveTo>
                  <a:lnTo>
                    <a:pt x="22183344" y="0"/>
                  </a:lnTo>
                  <a:lnTo>
                    <a:pt x="22183344" y="2386752"/>
                  </a:lnTo>
                  <a:lnTo>
                    <a:pt x="0" y="2386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347" b="-10485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22183344" cy="2386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999"/>
                </a:lnSpc>
              </a:pPr>
              <a:r>
                <a:rPr lang="en-US" sz="9999" spc="-299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Non-functional Analysis</a:t>
              </a:r>
            </a:p>
          </p:txBody>
        </p:sp>
      </p:grp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5816" y="2402681"/>
            <a:ext cx="3177197" cy="3172160"/>
            <a:chOff x="0" y="0"/>
            <a:chExt cx="4236263" cy="42295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36212" cy="4229547"/>
            </a:xfrm>
            <a:custGeom>
              <a:avLst/>
              <a:gdLst/>
              <a:ahLst/>
              <a:cxnLst/>
              <a:rect l="l" t="t" r="r" b="b"/>
              <a:pathLst>
                <a:path w="4236212" h="4229547">
                  <a:moveTo>
                    <a:pt x="0" y="157348"/>
                  </a:moveTo>
                  <a:cubicBezTo>
                    <a:pt x="0" y="70456"/>
                    <a:pt x="74041" y="0"/>
                    <a:pt x="165354" y="0"/>
                  </a:cubicBezTo>
                  <a:lnTo>
                    <a:pt x="4070858" y="0"/>
                  </a:lnTo>
                  <a:cubicBezTo>
                    <a:pt x="4162171" y="0"/>
                    <a:pt x="4236212" y="70456"/>
                    <a:pt x="4236212" y="157348"/>
                  </a:cubicBezTo>
                  <a:lnTo>
                    <a:pt x="4236212" y="4072199"/>
                  </a:lnTo>
                  <a:cubicBezTo>
                    <a:pt x="4236212" y="4159091"/>
                    <a:pt x="4162171" y="4229547"/>
                    <a:pt x="4070858" y="4229547"/>
                  </a:cubicBezTo>
                  <a:lnTo>
                    <a:pt x="165354" y="4229547"/>
                  </a:lnTo>
                  <a:cubicBezTo>
                    <a:pt x="74041" y="4229548"/>
                    <a:pt x="0" y="4159091"/>
                    <a:pt x="0" y="407219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AE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14984" y="2601849"/>
            <a:ext cx="438912" cy="438912"/>
            <a:chOff x="0" y="0"/>
            <a:chExt cx="585216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14984" y="2601849"/>
            <a:ext cx="438912" cy="438912"/>
            <a:chOff x="0" y="0"/>
            <a:chExt cx="585216" cy="585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585216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29334" y="2478405"/>
            <a:ext cx="2778862" cy="685800"/>
            <a:chOff x="0" y="0"/>
            <a:chExt cx="3705149" cy="914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05148" cy="914400"/>
            </a:xfrm>
            <a:custGeom>
              <a:avLst/>
              <a:gdLst/>
              <a:ahLst/>
              <a:cxnLst/>
              <a:rect l="l" t="t" r="r" b="b"/>
              <a:pathLst>
                <a:path w="3705148" h="914400">
                  <a:moveTo>
                    <a:pt x="0" y="0"/>
                  </a:moveTo>
                  <a:lnTo>
                    <a:pt x="3705148" y="0"/>
                  </a:lnTo>
                  <a:lnTo>
                    <a:pt x="370514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53" b="-289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3705149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select's 1024-fd Limit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4984" y="2879301"/>
            <a:ext cx="2778862" cy="2856940"/>
            <a:chOff x="0" y="0"/>
            <a:chExt cx="3705149" cy="38092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05148" cy="3809253"/>
            </a:xfrm>
            <a:custGeom>
              <a:avLst/>
              <a:gdLst/>
              <a:ahLst/>
              <a:cxnLst/>
              <a:rect l="l" t="t" r="r" b="b"/>
              <a:pathLst>
                <a:path w="3705148" h="3809253">
                  <a:moveTo>
                    <a:pt x="0" y="0"/>
                  </a:moveTo>
                  <a:lnTo>
                    <a:pt x="3705148" y="0"/>
                  </a:lnTo>
                  <a:lnTo>
                    <a:pt x="3705148" y="3809253"/>
                  </a:lnTo>
                  <a:lnTo>
                    <a:pt x="0" y="3809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29" b="647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705149" cy="38378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79591" lvl="1" indent="-139796" algn="l">
                <a:lnSpc>
                  <a:spcPts val="1709"/>
                </a:lnSpc>
                <a:buFont typeface="Arial"/>
                <a:buChar char="•"/>
              </a:pPr>
              <a:r>
                <a:rPr lang="en-US" sz="12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Problem: The Linux kernel's select() syscall silently ignores nfds &gt; 1024 regardless of bitmap size — memory corruption risk above fd 1024.</a:t>
              </a:r>
            </a:p>
            <a:p>
              <a:pPr marL="279591" lvl="1" indent="-139796" algn="l">
                <a:lnSpc>
                  <a:spcPts val="1709"/>
                </a:lnSpc>
                <a:buFont typeface="Arial"/>
                <a:buChar char="•"/>
              </a:pPr>
              <a:r>
                <a:rPr lang="en-US" sz="12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Fix: MAX_CLIENTS = 1024; connections with fd ≥ 1024 rejected cleanly; select benchmarked only at ≤ 1000 conns where it is correct.</a:t>
              </a:r>
            </a:p>
            <a:p>
              <a:pPr algn="l">
                <a:lnSpc>
                  <a:spcPts val="1709"/>
                </a:lnSpc>
              </a:pPr>
              <a:endParaRPr lang="en-US" sz="1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84466" y="2402681"/>
            <a:ext cx="3177197" cy="3172160"/>
            <a:chOff x="0" y="0"/>
            <a:chExt cx="4236263" cy="42295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36212" cy="4229547"/>
            </a:xfrm>
            <a:custGeom>
              <a:avLst/>
              <a:gdLst/>
              <a:ahLst/>
              <a:cxnLst/>
              <a:rect l="l" t="t" r="r" b="b"/>
              <a:pathLst>
                <a:path w="4236212" h="4229547">
                  <a:moveTo>
                    <a:pt x="0" y="157348"/>
                  </a:moveTo>
                  <a:cubicBezTo>
                    <a:pt x="0" y="70456"/>
                    <a:pt x="74041" y="0"/>
                    <a:pt x="165354" y="0"/>
                  </a:cubicBezTo>
                  <a:lnTo>
                    <a:pt x="4070858" y="0"/>
                  </a:lnTo>
                  <a:cubicBezTo>
                    <a:pt x="4162171" y="0"/>
                    <a:pt x="4236212" y="70456"/>
                    <a:pt x="4236212" y="157348"/>
                  </a:cubicBezTo>
                  <a:lnTo>
                    <a:pt x="4236212" y="4072199"/>
                  </a:lnTo>
                  <a:cubicBezTo>
                    <a:pt x="4236212" y="4159091"/>
                    <a:pt x="4162171" y="4229547"/>
                    <a:pt x="4070858" y="4229547"/>
                  </a:cubicBezTo>
                  <a:lnTo>
                    <a:pt x="165354" y="4229547"/>
                  </a:lnTo>
                  <a:cubicBezTo>
                    <a:pt x="74041" y="4229548"/>
                    <a:pt x="0" y="4159091"/>
                    <a:pt x="0" y="407219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AE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3634" y="2601849"/>
            <a:ext cx="438912" cy="438912"/>
            <a:chOff x="0" y="0"/>
            <a:chExt cx="585216" cy="5852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3634" y="2601849"/>
            <a:ext cx="438912" cy="438912"/>
            <a:chOff x="0" y="0"/>
            <a:chExt cx="585216" cy="5852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585216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73422" y="2478405"/>
            <a:ext cx="2778862" cy="685800"/>
            <a:chOff x="0" y="0"/>
            <a:chExt cx="3705149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705148" cy="914400"/>
            </a:xfrm>
            <a:custGeom>
              <a:avLst/>
              <a:gdLst/>
              <a:ahLst/>
              <a:cxnLst/>
              <a:rect l="l" t="t" r="r" b="b"/>
              <a:pathLst>
                <a:path w="3705148" h="914400">
                  <a:moveTo>
                    <a:pt x="0" y="0"/>
                  </a:moveTo>
                  <a:lnTo>
                    <a:pt x="3705148" y="0"/>
                  </a:lnTo>
                  <a:lnTo>
                    <a:pt x="370514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53" b="-289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3705149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Partial Sends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83729" y="3247061"/>
            <a:ext cx="2778862" cy="2399740"/>
            <a:chOff x="0" y="0"/>
            <a:chExt cx="3705149" cy="319965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05148" cy="3199653"/>
            </a:xfrm>
            <a:custGeom>
              <a:avLst/>
              <a:gdLst/>
              <a:ahLst/>
              <a:cxnLst/>
              <a:rect l="l" t="t" r="r" b="b"/>
              <a:pathLst>
                <a:path w="3705148" h="3199653">
                  <a:moveTo>
                    <a:pt x="0" y="0"/>
                  </a:moveTo>
                  <a:lnTo>
                    <a:pt x="3705148" y="0"/>
                  </a:lnTo>
                  <a:lnTo>
                    <a:pt x="3705148" y="3199653"/>
                  </a:lnTo>
                  <a:lnTo>
                    <a:pt x="0" y="31996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0" b="580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705149" cy="3237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1180" lvl="1" indent="-150590" algn="l">
                <a:lnSpc>
                  <a:spcPts val="1841"/>
                </a:lnSpc>
                <a:buFont typeface="Arial"/>
                <a:buChar char="•"/>
              </a:pPr>
              <a:r>
                <a:rPr lang="en-US" sz="13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Problem: send() silently drops data when the kernel send buffer fills under load.</a:t>
              </a:r>
            </a:p>
            <a:p>
              <a:pPr marL="301180" lvl="1" indent="-150590" algn="l">
                <a:lnSpc>
                  <a:spcPts val="1841"/>
                </a:lnSpc>
                <a:buFont typeface="Arial"/>
                <a:buChar char="•"/>
              </a:pPr>
              <a:r>
                <a:rPr lang="en-US" sz="13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Fix: Per-client 64 KB output buffer; flush_outbound_buffer loops until EAGAIN; buffer compacted with memmove.</a:t>
              </a:r>
            </a:p>
            <a:p>
              <a:pPr algn="l">
                <a:lnSpc>
                  <a:spcPts val="1841"/>
                </a:lnSpc>
              </a:pPr>
              <a:endParaRPr lang="en-US" sz="1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53115" y="2402681"/>
            <a:ext cx="3177197" cy="3172160"/>
            <a:chOff x="0" y="0"/>
            <a:chExt cx="4236263" cy="422954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36212" cy="4229547"/>
            </a:xfrm>
            <a:custGeom>
              <a:avLst/>
              <a:gdLst/>
              <a:ahLst/>
              <a:cxnLst/>
              <a:rect l="l" t="t" r="r" b="b"/>
              <a:pathLst>
                <a:path w="4236212" h="4229547">
                  <a:moveTo>
                    <a:pt x="0" y="157348"/>
                  </a:moveTo>
                  <a:cubicBezTo>
                    <a:pt x="0" y="70456"/>
                    <a:pt x="74041" y="0"/>
                    <a:pt x="165354" y="0"/>
                  </a:cubicBezTo>
                  <a:lnTo>
                    <a:pt x="4070858" y="0"/>
                  </a:lnTo>
                  <a:cubicBezTo>
                    <a:pt x="4162171" y="0"/>
                    <a:pt x="4236212" y="70456"/>
                    <a:pt x="4236212" y="157348"/>
                  </a:cubicBezTo>
                  <a:lnTo>
                    <a:pt x="4236212" y="4072199"/>
                  </a:lnTo>
                  <a:cubicBezTo>
                    <a:pt x="4236212" y="4159091"/>
                    <a:pt x="4162171" y="4229547"/>
                    <a:pt x="4070858" y="4229547"/>
                  </a:cubicBezTo>
                  <a:lnTo>
                    <a:pt x="165354" y="4229547"/>
                  </a:lnTo>
                  <a:cubicBezTo>
                    <a:pt x="74041" y="4229548"/>
                    <a:pt x="0" y="4159091"/>
                    <a:pt x="0" y="407219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AE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752283" y="2601849"/>
            <a:ext cx="438912" cy="438912"/>
            <a:chOff x="0" y="0"/>
            <a:chExt cx="585216" cy="5852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752283" y="2601849"/>
            <a:ext cx="438912" cy="438912"/>
            <a:chOff x="0" y="0"/>
            <a:chExt cx="585216" cy="58521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585216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42071" y="2478405"/>
            <a:ext cx="2778862" cy="685800"/>
            <a:chOff x="0" y="0"/>
            <a:chExt cx="3705149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705148" cy="914400"/>
            </a:xfrm>
            <a:custGeom>
              <a:avLst/>
              <a:gdLst/>
              <a:ahLst/>
              <a:cxnLst/>
              <a:rect l="l" t="t" r="r" b="b"/>
              <a:pathLst>
                <a:path w="3705148" h="914400">
                  <a:moveTo>
                    <a:pt x="0" y="0"/>
                  </a:moveTo>
                  <a:lnTo>
                    <a:pt x="3705148" y="0"/>
                  </a:lnTo>
                  <a:lnTo>
                    <a:pt x="370514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53" b="-289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3705149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1"/>
                </a:lnSpc>
              </a:pPr>
              <a:r>
                <a:rPr lang="en-US" sz="13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Ring Exhaustion (io_uring)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754569" y="3358795"/>
            <a:ext cx="2778862" cy="1942540"/>
            <a:chOff x="0" y="0"/>
            <a:chExt cx="3705149" cy="259005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705148" cy="2590053"/>
            </a:xfrm>
            <a:custGeom>
              <a:avLst/>
              <a:gdLst/>
              <a:ahLst/>
              <a:cxnLst/>
              <a:rect l="l" t="t" r="r" b="b"/>
              <a:pathLst>
                <a:path w="3705148" h="2590053">
                  <a:moveTo>
                    <a:pt x="0" y="0"/>
                  </a:moveTo>
                  <a:lnTo>
                    <a:pt x="3705148" y="0"/>
                  </a:lnTo>
                  <a:lnTo>
                    <a:pt x="3705148" y="2590053"/>
                  </a:lnTo>
                  <a:lnTo>
                    <a:pt x="0" y="25900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67" b="4811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705149" cy="26281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1180" lvl="1" indent="-150590" algn="l">
                <a:lnSpc>
                  <a:spcPts val="1841"/>
                </a:lnSpc>
                <a:buFont typeface="Arial"/>
                <a:buChar char="•"/>
              </a:pPr>
              <a:r>
                <a:rPr lang="en-US" sz="13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Problem: io_uring SQ fills up during burst accept + recv/send at 5000+ connections.</a:t>
              </a:r>
            </a:p>
            <a:p>
              <a:pPr marL="301180" lvl="1" indent="-150590" algn="l">
                <a:lnSpc>
                  <a:spcPts val="1841"/>
                </a:lnSpc>
                <a:buFont typeface="Arial"/>
                <a:buChar char="•"/>
              </a:pPr>
              <a:r>
                <a:rPr lang="en-US" sz="13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Fix: maybe_flush() drains the SQ mid-loop whenever fewer than 4 slots remain.</a:t>
              </a:r>
            </a:p>
            <a:p>
              <a:pPr algn="l">
                <a:lnSpc>
                  <a:spcPts val="1841"/>
                </a:lnSpc>
              </a:pPr>
              <a:endParaRPr lang="en-US" sz="1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921765" y="2402681"/>
            <a:ext cx="3177197" cy="3172160"/>
            <a:chOff x="0" y="0"/>
            <a:chExt cx="4236263" cy="422954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236212" cy="4229547"/>
            </a:xfrm>
            <a:custGeom>
              <a:avLst/>
              <a:gdLst/>
              <a:ahLst/>
              <a:cxnLst/>
              <a:rect l="l" t="t" r="r" b="b"/>
              <a:pathLst>
                <a:path w="4236212" h="4229547">
                  <a:moveTo>
                    <a:pt x="0" y="157348"/>
                  </a:moveTo>
                  <a:cubicBezTo>
                    <a:pt x="0" y="70456"/>
                    <a:pt x="74041" y="0"/>
                    <a:pt x="165354" y="0"/>
                  </a:cubicBezTo>
                  <a:lnTo>
                    <a:pt x="4070858" y="0"/>
                  </a:lnTo>
                  <a:cubicBezTo>
                    <a:pt x="4162171" y="0"/>
                    <a:pt x="4236212" y="70456"/>
                    <a:pt x="4236212" y="157348"/>
                  </a:cubicBezTo>
                  <a:lnTo>
                    <a:pt x="4236212" y="4072199"/>
                  </a:lnTo>
                  <a:cubicBezTo>
                    <a:pt x="4236212" y="4159091"/>
                    <a:pt x="4162171" y="4229547"/>
                    <a:pt x="4070858" y="4229547"/>
                  </a:cubicBezTo>
                  <a:lnTo>
                    <a:pt x="165354" y="4229547"/>
                  </a:lnTo>
                  <a:cubicBezTo>
                    <a:pt x="74041" y="4229548"/>
                    <a:pt x="0" y="4159091"/>
                    <a:pt x="0" y="407219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AE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120933" y="2601849"/>
            <a:ext cx="438912" cy="438912"/>
            <a:chOff x="0" y="0"/>
            <a:chExt cx="585216" cy="58521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120933" y="2601849"/>
            <a:ext cx="438912" cy="438912"/>
            <a:chOff x="0" y="0"/>
            <a:chExt cx="585216" cy="58521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585216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636045" y="2478405"/>
            <a:ext cx="2778862" cy="685800"/>
            <a:chOff x="0" y="0"/>
            <a:chExt cx="3705149" cy="9144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705148" cy="914400"/>
            </a:xfrm>
            <a:custGeom>
              <a:avLst/>
              <a:gdLst/>
              <a:ahLst/>
              <a:cxnLst/>
              <a:rect l="l" t="t" r="r" b="b"/>
              <a:pathLst>
                <a:path w="3705148" h="914400">
                  <a:moveTo>
                    <a:pt x="0" y="0"/>
                  </a:moveTo>
                  <a:lnTo>
                    <a:pt x="3705148" y="0"/>
                  </a:lnTo>
                  <a:lnTo>
                    <a:pt x="370514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53" b="-289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3705149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27"/>
                </a:lnSpc>
              </a:pPr>
              <a:r>
                <a:rPr lang="en-US" sz="14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io_uring fcntl Overhead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120933" y="3164205"/>
            <a:ext cx="2778862" cy="2410637"/>
            <a:chOff x="0" y="0"/>
            <a:chExt cx="3705149" cy="321418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705148" cy="3214182"/>
            </a:xfrm>
            <a:custGeom>
              <a:avLst/>
              <a:gdLst/>
              <a:ahLst/>
              <a:cxnLst/>
              <a:rect l="l" t="t" r="r" b="b"/>
              <a:pathLst>
                <a:path w="3705148" h="3214182">
                  <a:moveTo>
                    <a:pt x="0" y="0"/>
                  </a:moveTo>
                  <a:lnTo>
                    <a:pt x="3705148" y="0"/>
                  </a:lnTo>
                  <a:lnTo>
                    <a:pt x="3705148" y="3214182"/>
                  </a:lnTo>
                  <a:lnTo>
                    <a:pt x="0" y="3214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6" b="5819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3705149" cy="3242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79591" lvl="1" indent="-139796" algn="l">
                <a:lnSpc>
                  <a:spcPts val="1709"/>
                </a:lnSpc>
                <a:buFont typeface="Arial"/>
                <a:buChar char="•"/>
              </a:pPr>
              <a:r>
                <a:rPr lang="en-US" sz="12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Problem: Earlier build added fcntl(F_GETFL)/fcntl(F_SETFL) per accepted connection, undermining the zero-syscall premise.</a:t>
              </a:r>
            </a:p>
            <a:p>
              <a:pPr marL="279591" lvl="1" indent="-139796" algn="l">
                <a:lnSpc>
                  <a:spcPts val="1709"/>
                </a:lnSpc>
                <a:buFont typeface="Arial"/>
                <a:buChar char="•"/>
              </a:pPr>
              <a:r>
                <a:rPr lang="en-US" sz="12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Fix: accept_flags = SOCK_NONBLOCK in the ACCEPT SQE; kernel delivers an already-nonblocking fd — no round-trip.</a:t>
              </a:r>
            </a:p>
            <a:p>
              <a:pPr algn="l">
                <a:lnSpc>
                  <a:spcPts val="1709"/>
                </a:lnSpc>
              </a:pPr>
              <a:endParaRPr lang="en-US" sz="12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290415" y="2402681"/>
            <a:ext cx="3177197" cy="3172160"/>
            <a:chOff x="0" y="0"/>
            <a:chExt cx="4236263" cy="422954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236212" cy="4229547"/>
            </a:xfrm>
            <a:custGeom>
              <a:avLst/>
              <a:gdLst/>
              <a:ahLst/>
              <a:cxnLst/>
              <a:rect l="l" t="t" r="r" b="b"/>
              <a:pathLst>
                <a:path w="4236212" h="4229547">
                  <a:moveTo>
                    <a:pt x="0" y="157348"/>
                  </a:moveTo>
                  <a:cubicBezTo>
                    <a:pt x="0" y="70456"/>
                    <a:pt x="74041" y="0"/>
                    <a:pt x="165354" y="0"/>
                  </a:cubicBezTo>
                  <a:lnTo>
                    <a:pt x="4070858" y="0"/>
                  </a:lnTo>
                  <a:cubicBezTo>
                    <a:pt x="4162171" y="0"/>
                    <a:pt x="4236212" y="70456"/>
                    <a:pt x="4236212" y="157348"/>
                  </a:cubicBezTo>
                  <a:lnTo>
                    <a:pt x="4236212" y="4072199"/>
                  </a:lnTo>
                  <a:cubicBezTo>
                    <a:pt x="4236212" y="4159091"/>
                    <a:pt x="4162171" y="4229547"/>
                    <a:pt x="4070858" y="4229547"/>
                  </a:cubicBezTo>
                  <a:lnTo>
                    <a:pt x="165354" y="4229547"/>
                  </a:lnTo>
                  <a:cubicBezTo>
                    <a:pt x="74041" y="4229548"/>
                    <a:pt x="0" y="4159091"/>
                    <a:pt x="0" y="407219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9DAE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489582" y="2601849"/>
            <a:ext cx="438912" cy="438912"/>
            <a:chOff x="0" y="0"/>
            <a:chExt cx="585216" cy="58521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152" y="585216"/>
                    <a:pt x="292608" y="585216"/>
                  </a:cubicBez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054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489582" y="2601849"/>
            <a:ext cx="438912" cy="438912"/>
            <a:chOff x="0" y="0"/>
            <a:chExt cx="585216" cy="58521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585216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5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5080894" y="2478405"/>
            <a:ext cx="2778862" cy="685800"/>
            <a:chOff x="0" y="0"/>
            <a:chExt cx="3705149" cy="9144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705148" cy="914400"/>
            </a:xfrm>
            <a:custGeom>
              <a:avLst/>
              <a:gdLst/>
              <a:ahLst/>
              <a:cxnLst/>
              <a:rect l="l" t="t" r="r" b="b"/>
              <a:pathLst>
                <a:path w="3705148" h="914400">
                  <a:moveTo>
                    <a:pt x="0" y="0"/>
                  </a:moveTo>
                  <a:lnTo>
                    <a:pt x="3705148" y="0"/>
                  </a:lnTo>
                  <a:lnTo>
                    <a:pt x="370514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53" b="-289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3705149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Strace Interference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480438" y="3247061"/>
            <a:ext cx="2778862" cy="1713940"/>
            <a:chOff x="0" y="0"/>
            <a:chExt cx="3705149" cy="2285253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705148" cy="2285253"/>
            </a:xfrm>
            <a:custGeom>
              <a:avLst/>
              <a:gdLst/>
              <a:ahLst/>
              <a:cxnLst/>
              <a:rect l="l" t="t" r="r" b="b"/>
              <a:pathLst>
                <a:path w="3705148" h="2285253">
                  <a:moveTo>
                    <a:pt x="0" y="0"/>
                  </a:moveTo>
                  <a:lnTo>
                    <a:pt x="3705148" y="0"/>
                  </a:lnTo>
                  <a:lnTo>
                    <a:pt x="3705148" y="2285253"/>
                  </a:lnTo>
                  <a:lnTo>
                    <a:pt x="0" y="2285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82" b="4119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3705149" cy="23233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01180" lvl="1" indent="-150590" algn="l">
                <a:lnSpc>
                  <a:spcPts val="1841"/>
                </a:lnSpc>
                <a:buFont typeface="Arial"/>
                <a:buChar char="•"/>
              </a:pPr>
              <a:r>
                <a:rPr lang="en-US" sz="13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Problem: ptrace overhead skewed syscall counts 10×.</a:t>
              </a:r>
            </a:p>
            <a:p>
              <a:pPr marL="301180" lvl="1" indent="-150590" algn="l">
                <a:lnSpc>
                  <a:spcPts val="1841"/>
                </a:lnSpc>
                <a:buFont typeface="Arial"/>
                <a:buChar char="•"/>
              </a:pPr>
              <a:r>
                <a:rPr lang="en-US" sz="13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Fix: strace attached post ramp-up; measurements taken over a clean 10 s window.</a:t>
              </a:r>
            </a:p>
            <a:p>
              <a:pPr algn="l">
                <a:lnSpc>
                  <a:spcPts val="1841"/>
                </a:lnSpc>
              </a:pPr>
              <a:endParaRPr lang="en-US" sz="1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52837" y="5575097"/>
            <a:ext cx="8229600" cy="440893"/>
            <a:chOff x="0" y="0"/>
            <a:chExt cx="10972800" cy="587858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972800" cy="587858"/>
            </a:xfrm>
            <a:custGeom>
              <a:avLst/>
              <a:gdLst/>
              <a:ahLst/>
              <a:cxnLst/>
              <a:rect l="l" t="t" r="r" b="b"/>
              <a:pathLst>
                <a:path w="10972800" h="587858">
                  <a:moveTo>
                    <a:pt x="0" y="0"/>
                  </a:moveTo>
                  <a:lnTo>
                    <a:pt x="10972800" y="0"/>
                  </a:lnTo>
                  <a:lnTo>
                    <a:pt x="1097280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0149" b="-30725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10972800" cy="6069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i="1" spc="-53">
                  <a:solidFill>
                    <a:srgbClr val="000000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KEY TAKEAWAYS</a:t>
              </a:r>
            </a:p>
          </p:txBody>
        </p:sp>
      </p:grpSp>
      <p:graphicFrame>
        <p:nvGraphicFramePr>
          <p:cNvPr id="70" name="Table 70"/>
          <p:cNvGraphicFramePr>
            <a:graphicFrameLocks noGrp="1"/>
          </p:cNvGraphicFramePr>
          <p:nvPr/>
        </p:nvGraphicFramePr>
        <p:xfrm>
          <a:off x="852837" y="6015990"/>
          <a:ext cx="16614775" cy="4083685"/>
        </p:xfrm>
        <a:graphic>
          <a:graphicData uri="http://schemas.openxmlformats.org/drawingml/2006/table">
            <a:tbl>
              <a:tblPr/>
              <a:tblGrid>
                <a:gridCol w="33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941">
                <a:tc>
                  <a:txBody>
                    <a:bodyPr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Does O(N) hurt select/poll?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select hits a hard 1024-fd wall; valid only under 1000 conns. poll degrades gracefully but latency explodes past 2000 conns.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941">
                <a:tc>
                  <a:txBody>
                    <a:bodyPr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Is epoll truly O(1)?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For event notification, yes. But at 6000+ conns the kernel TCP stack — not epoll — saturates, causing latency spikes to 1–2 s.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707">
                <a:tc>
                  <a:txBody>
                    <a:bodyPr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Does io_uring cut syscall overhead?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Yes, io_uring_enter calls are batched and sendto/recvfrom replaced by ring ops. But memory-barrier cost on small 512-byte messages limits the gain.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707">
                <a:tc>
                  <a:txBody>
                    <a:bodyPr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Is newer always faster?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No. At moderate loads (100–1000 conns), poll and select match or beat epoll on throughput. io_uring shows the best p99 latency at 5000–10,000 conns but not the highest throughput.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8389">
                <a:tc>
                  <a:txBody>
                    <a:bodyPr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When does io_uring make sense?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944"/>
                        </a:lnSpc>
                        <a:defRPr/>
                      </a:pPr>
                      <a:r>
                        <a:rPr lang="en-US" sz="162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Large I/O payloads, CPU-pinned always-busy workloads, or when minimising syscall count matters more than raw echo throughput on tiny messages.</a:t>
                      </a:r>
                      <a:endParaRPr lang="en-US" sz="1100"/>
                    </a:p>
                    <a:p>
                      <a:pPr algn="l">
                        <a:lnSpc>
                          <a:spcPts val="1944"/>
                        </a:lnSpc>
                      </a:pPr>
                      <a:endParaRPr lang="en-US" sz="1100"/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54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1" name="Group 71"/>
          <p:cNvGrpSpPr/>
          <p:nvPr/>
        </p:nvGrpSpPr>
        <p:grpSpPr>
          <a:xfrm>
            <a:off x="0" y="-54200"/>
            <a:ext cx="18288000" cy="2207683"/>
            <a:chOff x="0" y="0"/>
            <a:chExt cx="4974443" cy="60050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974443" cy="600503"/>
            </a:xfrm>
            <a:custGeom>
              <a:avLst/>
              <a:gdLst/>
              <a:ahLst/>
              <a:cxnLst/>
              <a:rect l="l" t="t" r="r" b="b"/>
              <a:pathLst>
                <a:path w="4974443" h="600503">
                  <a:moveTo>
                    <a:pt x="0" y="0"/>
                  </a:moveTo>
                  <a:lnTo>
                    <a:pt x="4974443" y="0"/>
                  </a:lnTo>
                  <a:lnTo>
                    <a:pt x="4974443" y="600503"/>
                  </a:lnTo>
                  <a:lnTo>
                    <a:pt x="0" y="600503"/>
                  </a:lnTo>
                  <a:close/>
                </a:path>
              </a:pathLst>
            </a:custGeom>
            <a:solidFill>
              <a:srgbClr val="1C54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4974443" cy="610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22960" y="363419"/>
            <a:ext cx="16637508" cy="1790064"/>
            <a:chOff x="0" y="0"/>
            <a:chExt cx="22183344" cy="238675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183344" cy="2386752"/>
            </a:xfrm>
            <a:custGeom>
              <a:avLst/>
              <a:gdLst/>
              <a:ahLst/>
              <a:cxnLst/>
              <a:rect l="l" t="t" r="r" b="b"/>
              <a:pathLst>
                <a:path w="22183344" h="2386752">
                  <a:moveTo>
                    <a:pt x="0" y="0"/>
                  </a:moveTo>
                  <a:lnTo>
                    <a:pt x="22183344" y="0"/>
                  </a:lnTo>
                  <a:lnTo>
                    <a:pt x="22183344" y="2386752"/>
                  </a:lnTo>
                  <a:lnTo>
                    <a:pt x="0" y="2386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347" b="-10485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22183344" cy="2386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999"/>
                </a:lnSpc>
              </a:pPr>
              <a:r>
                <a:rPr lang="en-US" sz="9999" spc="-299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Challenges &amp; Key Takeaways</a:t>
              </a:r>
            </a:p>
          </p:txBody>
        </p:sp>
      </p:grp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</Words>
  <Application>Microsoft Office PowerPoint</Application>
  <PresentationFormat>Custom</PresentationFormat>
  <Paragraphs>158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Poppins</vt:lpstr>
      <vt:lpstr>Arial</vt:lpstr>
      <vt:lpstr>Poppins Bold</vt:lpstr>
      <vt:lpstr>Poppins Bold Italics</vt:lpstr>
      <vt:lpstr>Calibri</vt:lpstr>
      <vt:lpstr>Poppins Italics</vt:lpstr>
      <vt:lpstr>League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Scalable_Network_IO.pptx</dc:title>
  <cp:lastModifiedBy>Pallav Biyala</cp:lastModifiedBy>
  <cp:revision>2</cp:revision>
  <dcterms:created xsi:type="dcterms:W3CDTF">2006-08-16T00:00:00Z</dcterms:created>
  <dcterms:modified xsi:type="dcterms:W3CDTF">2026-09-11T08:49:53Z</dcterms:modified>
  <dc:identifier>DAHUpoizxyM</dc:identifier>
</cp:coreProperties>
</file>